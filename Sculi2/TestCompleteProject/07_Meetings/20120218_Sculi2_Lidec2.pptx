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handoutMasterIdLst>
    <p:handoutMasterId r:id="rId16"/>
  </p:handoutMasterIdLst>
  <p:sldIdLst>
    <p:sldId id="313" r:id="rId2"/>
    <p:sldId id="334" r:id="rId3"/>
    <p:sldId id="335" r:id="rId4"/>
    <p:sldId id="329" r:id="rId5"/>
    <p:sldId id="331" r:id="rId6"/>
    <p:sldId id="330" r:id="rId7"/>
    <p:sldId id="336" r:id="rId8"/>
    <p:sldId id="328" r:id="rId9"/>
    <p:sldId id="333" r:id="rId10"/>
    <p:sldId id="337" r:id="rId11"/>
    <p:sldId id="338" r:id="rId12"/>
    <p:sldId id="339" r:id="rId13"/>
    <p:sldId id="314" r:id="rId14"/>
  </p:sldIdLst>
  <p:sldSz cx="9906000" cy="6858000" type="A4"/>
  <p:notesSz cx="6797675" cy="9926638"/>
  <p:defaultTextStyle>
    <a:defPPr>
      <a:defRPr lang="de-DE"/>
    </a:defPPr>
    <a:lvl1pPr algn="l" rtl="0" fontAlgn="base">
      <a:spcBef>
        <a:spcPct val="50000"/>
      </a:spcBef>
      <a:spcAft>
        <a:spcPct val="40000"/>
      </a:spcAft>
      <a:buClr>
        <a:schemeClr val="accent1"/>
      </a:buClr>
      <a:buFont typeface="Wingdings" pitchFamily="2" charset="2"/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50000"/>
      </a:spcBef>
      <a:spcAft>
        <a:spcPct val="40000"/>
      </a:spcAft>
      <a:buClr>
        <a:schemeClr val="accent1"/>
      </a:buClr>
      <a:buFont typeface="Wingdings" pitchFamily="2" charset="2"/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50000"/>
      </a:spcBef>
      <a:spcAft>
        <a:spcPct val="40000"/>
      </a:spcAft>
      <a:buClr>
        <a:schemeClr val="accent1"/>
      </a:buClr>
      <a:buFont typeface="Wingdings" pitchFamily="2" charset="2"/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50000"/>
      </a:spcBef>
      <a:spcAft>
        <a:spcPct val="40000"/>
      </a:spcAft>
      <a:buClr>
        <a:schemeClr val="accent1"/>
      </a:buClr>
      <a:buFont typeface="Wingdings" pitchFamily="2" charset="2"/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50000"/>
      </a:spcBef>
      <a:spcAft>
        <a:spcPct val="40000"/>
      </a:spcAft>
      <a:buClr>
        <a:schemeClr val="accent1"/>
      </a:buClr>
      <a:buFont typeface="Wingdings" pitchFamily="2" charset="2"/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200" b="1" kern="1200">
        <a:solidFill>
          <a:srgbClr val="0000FF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CC66"/>
    <a:srgbClr val="CCFFCC"/>
    <a:srgbClr val="FF5050"/>
    <a:srgbClr val="FF7C80"/>
    <a:srgbClr val="FFCCCC"/>
    <a:srgbClr val="0033CC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9" autoAdjust="0"/>
    <p:restoredTop sz="94608" autoAdjust="0"/>
  </p:normalViewPr>
  <p:slideViewPr>
    <p:cSldViewPr snapToGrid="0">
      <p:cViewPr>
        <p:scale>
          <a:sx n="100" d="100"/>
          <a:sy n="100" d="100"/>
        </p:scale>
        <p:origin x="-1020" y="-26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-2724" y="-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1475" y="9594850"/>
            <a:ext cx="15430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74650" y="361950"/>
            <a:ext cx="5341938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479800" y="19685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64496E8B-5DE3-4860-AD6F-23075DE52AA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24581" name="Picture 6" descr="Logo neu Spatio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575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482975" y="200025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4FF3C50E-457D-45EF-8B0E-6BA21E7DF4E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4650" y="9593263"/>
            <a:ext cx="29464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74650" y="228600"/>
            <a:ext cx="5235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1741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3363" y="850900"/>
            <a:ext cx="6330950" cy="4384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74663" y="5492750"/>
            <a:ext cx="584835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pic>
        <p:nvPicPr>
          <p:cNvPr id="17415" name="Picture 15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755439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34A35A9-64C4-49C5-91FF-E1B955EA4427}" type="slidenum">
              <a:rPr lang="de-DE" sz="1200" b="0" smtClean="0">
                <a:solidFill>
                  <a:schemeClr val="bg2"/>
                </a:solidFill>
                <a:latin typeface="Arial Black" pitchFamily="34" charset="0"/>
              </a:rPr>
              <a:pPr eaLnBrk="1" hangingPunct="1"/>
              <a:t>1</a:t>
            </a:fld>
            <a:endParaRPr lang="de-DE" sz="1200" b="0" smtClean="0">
              <a:solidFill>
                <a:schemeClr val="bg2"/>
              </a:solidFill>
              <a:latin typeface="Arial Black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000" b="0" smtClean="0">
                <a:solidFill>
                  <a:schemeClr val="bg2"/>
                </a:solidFill>
                <a:latin typeface="Arial Black" pitchFamily="34" charset="0"/>
              </a:rPr>
              <a:t>XX.XX.XXXX</a:t>
            </a:r>
          </a:p>
        </p:txBody>
      </p:sp>
      <p:sp>
        <p:nvSpPr>
          <p:cNvPr id="184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600" b="0" smtClean="0">
                <a:solidFill>
                  <a:schemeClr val="bg2"/>
                </a:solidFill>
                <a:latin typeface="Arial Black" pitchFamily="34" charset="0"/>
              </a:rPr>
              <a:t>Präsentationstitel eingeben</a:t>
            </a: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B6375B-569E-4DF1-871B-E676A7234D7C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XX.XX.XXXX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Präsentationstitel eingeben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87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412750" y="6169025"/>
            <a:ext cx="9045575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 rot="16200000">
            <a:off x="8878095" y="5241131"/>
            <a:ext cx="15732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de-DE" sz="1000" b="0" smtClean="0">
                <a:solidFill>
                  <a:srgbClr val="C0C0C0"/>
                </a:solidFill>
              </a:rPr>
              <a:t>Copyright Liebherr 2008</a:t>
            </a:r>
          </a:p>
        </p:txBody>
      </p:sp>
      <p:sp>
        <p:nvSpPr>
          <p:cNvPr id="108551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412750" y="446088"/>
            <a:ext cx="9155113" cy="14684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000" anchor="b"/>
          <a:lstStyle>
            <a:lvl1pPr algn="r">
              <a:defRPr sz="3200"/>
            </a:lvl1pPr>
          </a:lstStyle>
          <a:p>
            <a:pPr lvl="0"/>
            <a:r>
              <a:rPr lang="de-DE" noProof="0" smtClean="0"/>
              <a:t>Titelmasterformat durch Klicken bearbeiten</a:t>
            </a:r>
          </a:p>
        </p:txBody>
      </p:sp>
      <p:sp>
        <p:nvSpPr>
          <p:cNvPr id="108552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20700" y="1811338"/>
            <a:ext cx="9047163" cy="13033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de-DE" noProof="0" smtClean="0"/>
              <a:t>Formatvorlage des Untertitelmasters durch Klicken bearbeiten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320675" y="6350000"/>
            <a:ext cx="23114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XX.XX.XXXX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0003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D66C-3437-4FE1-B452-E9DB7CCAC36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32574972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D32FD-5633-4B99-8272-D6A46086148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26916573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97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22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6980D-8EFF-4CF1-8E4B-BBAF69CC28B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407399728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77347-4ED7-4197-B4FE-323D13F14AC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26835696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0555C-DFB7-4975-AFD4-E5B2EB168A6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7519994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4E4BB7-9496-4785-94F8-247BB7264F5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31583025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2F371-8FC4-41A4-9A04-126A983A3E9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169332549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F527C-0C5E-43D9-8DEF-8E2F73EA3F9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18145876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1C17D-F49E-41F5-8A76-C7095564813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303360455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1813" y="361950"/>
            <a:ext cx="2190750" cy="28162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975" y="361950"/>
            <a:ext cx="6421438" cy="28162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68381-2918-40D1-9359-F221D6CFF0D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69767512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8659813" cy="3746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975" y="1150938"/>
            <a:ext cx="4133850" cy="20272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94225" y="1150938"/>
            <a:ext cx="4133850" cy="936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94225" y="2239963"/>
            <a:ext cx="4133850" cy="938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E71DD-8515-4A51-9FE0-A0C0FC97C79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35761360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8659813" cy="3746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7975" y="1150938"/>
            <a:ext cx="4133850" cy="20272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94225" y="1150938"/>
            <a:ext cx="4133850" cy="936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94225" y="2239963"/>
            <a:ext cx="4133850" cy="938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59998-35E4-4CEA-84D3-5E7314E36AF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</p:spTree>
    <p:extLst>
      <p:ext uri="{BB962C8B-B14F-4D97-AF65-F5344CB8AC3E}">
        <p14:creationId xmlns:p14="http://schemas.microsoft.com/office/powerpoint/2010/main" val="9240809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87313" y="777875"/>
            <a:ext cx="9748837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4488" y="6348413"/>
            <a:ext cx="682625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fld id="{2941656F-27E5-4F29-BDEF-9B313CD734B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06438" y="6356350"/>
            <a:ext cx="51085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Sculi</a:t>
            </a:r>
          </a:p>
        </p:txBody>
      </p:sp>
      <p:pic>
        <p:nvPicPr>
          <p:cNvPr id="1029" name="Picture 5" descr="Logo neu Spatio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73025" y="6169025"/>
            <a:ext cx="9747250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12750" y="361950"/>
            <a:ext cx="8659813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103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975" y="1150938"/>
            <a:ext cx="8420100" cy="202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smtClean="0"/>
              <a:t>Textmasterformate durch Klicken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3" name="Text Box 14"/>
          <p:cNvSpPr txBox="1">
            <a:spLocks noChangeArrowheads="1"/>
          </p:cNvSpPr>
          <p:nvPr/>
        </p:nvSpPr>
        <p:spPr bwMode="auto">
          <a:xfrm rot="-5400000">
            <a:off x="8314532" y="4495006"/>
            <a:ext cx="28876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defRPr sz="2200" b="1">
                <a:solidFill>
                  <a:srgbClr val="0000FF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de-DE" sz="1000" b="0" smtClean="0">
                <a:solidFill>
                  <a:srgbClr val="C0C0C0"/>
                </a:solidFill>
              </a:rPr>
              <a:t>Copyright Liebherr 2008 / DC-29-007A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9pPr>
    </p:titleStyle>
    <p:bodyStyle>
      <a:lvl1pPr marL="265113" indent="-265113" algn="l" rtl="0" eaLnBrk="0" fontAlgn="base" hangingPunct="0">
        <a:spcBef>
          <a:spcPct val="0"/>
        </a:spcBef>
        <a:spcAft>
          <a:spcPct val="40000"/>
        </a:spcAft>
        <a:buClr>
          <a:schemeClr val="accent1"/>
        </a:buClr>
        <a:buFont typeface="Wingdings" pitchFamily="2" charset="2"/>
        <a:buChar char="n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539750" indent="-273050" algn="l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2pPr>
      <a:lvl3pPr marL="869950" indent="-328613" algn="l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3pPr>
      <a:lvl4pPr marL="1173163" indent="-288925" algn="l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4pPr>
      <a:lvl5pPr marL="1466850" indent="-292100" algn="l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5pPr>
      <a:lvl6pPr marL="1924050" indent="-292100" algn="l" rtl="0" fontAlgn="base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6pPr>
      <a:lvl7pPr marL="2381250" indent="-292100" algn="l" rtl="0" fontAlgn="base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7pPr>
      <a:lvl8pPr marL="2838450" indent="-292100" algn="l" rtl="0" fontAlgn="base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8pPr>
      <a:lvl9pPr marL="3295650" indent="-292100" algn="l" rtl="0" fontAlgn="base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hyperlink" Target="../../Pr&#228;sentationen/Firmengruppen-Pr&#228;sentation/Finale%20Version/Die%20Mobilbagger.ppt" TargetMode="External"/><Relationship Id="rId18" Type="http://schemas.openxmlformats.org/officeDocument/2006/relationships/image" Target="../media/image11.jpeg"/><Relationship Id="rId26" Type="http://schemas.openxmlformats.org/officeDocument/2006/relationships/image" Target="../media/image15.jpeg"/><Relationship Id="rId3" Type="http://schemas.openxmlformats.org/officeDocument/2006/relationships/hyperlink" Target="../../Pr&#228;sentationen/Firmengruppen-Pr&#228;sentation/Finale%20Version/Die%20Kuehl-%20und%20Gefriergeraete.ppt" TargetMode="External"/><Relationship Id="rId21" Type="http://schemas.openxmlformats.org/officeDocument/2006/relationships/hyperlink" Target="../../Pr&#228;sentationen/Firmengruppen-Pr&#228;sentation/Finale%20Version/Die%20Mischtechnik.ppt" TargetMode="External"/><Relationship Id="rId34" Type="http://schemas.openxmlformats.org/officeDocument/2006/relationships/hyperlink" Target="../../Pr&#228;sentationen/Firmengruppen-Pr&#228;sentation/Finale%20Version/Die%20Planier-%20und%20Laderaupen.ppt" TargetMode="External"/><Relationship Id="rId7" Type="http://schemas.openxmlformats.org/officeDocument/2006/relationships/hyperlink" Target="../../Pr&#228;sentationen/Firmengruppen-Pr&#228;sentation/Finale%20Version/Die%20Verkehrstechnik.ppt" TargetMode="External"/><Relationship Id="rId12" Type="http://schemas.openxmlformats.org/officeDocument/2006/relationships/image" Target="../media/image8.jpeg"/><Relationship Id="rId17" Type="http://schemas.openxmlformats.org/officeDocument/2006/relationships/hyperlink" Target="../../Pr&#228;sentationen/Firmengruppen-Pr&#228;sentation/Finale%20Version/Die%20Hydroseilbagger,%20Ramm-%20und%20Bohrgeraete.ppt" TargetMode="External"/><Relationship Id="rId25" Type="http://schemas.openxmlformats.org/officeDocument/2006/relationships/hyperlink" Target="../../Pr&#228;sentationen/Firmengruppen-Pr&#228;sentation/Finale%20Version/Die%20Fahrzeugkrane.ppt" TargetMode="External"/><Relationship Id="rId3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jpeg"/><Relationship Id="rId20" Type="http://schemas.openxmlformats.org/officeDocument/2006/relationships/image" Target="../media/image12.jpeg"/><Relationship Id="rId29" Type="http://schemas.openxmlformats.org/officeDocument/2006/relationships/hyperlink" Target="../../Pr&#228;sentationen/Firmengruppen-Pr&#228;sentation/Finale%20Version/Die%20maritimen%20Krane.ppt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hyperlink" Target="../../Pr&#228;sentationen/Firmengruppen-Pr&#228;sentation/Finale%20Version/Die%20Hotels.ppt" TargetMode="External"/><Relationship Id="rId24" Type="http://schemas.openxmlformats.org/officeDocument/2006/relationships/image" Target="../media/image14.jpeg"/><Relationship Id="rId32" Type="http://schemas.openxmlformats.org/officeDocument/2006/relationships/hyperlink" Target="../../Pr&#228;sentationen/Firmengruppen-Pr&#228;sentation/Finale%20Version/Die%20Komponenten.ppt" TargetMode="External"/><Relationship Id="rId5" Type="http://schemas.openxmlformats.org/officeDocument/2006/relationships/hyperlink" Target="../../Pr&#228;sentationen/Firmengruppen-Pr&#228;sentation/Finale%20Version/Die%20Luftfahrtausruestung.ppt" TargetMode="External"/><Relationship Id="rId15" Type="http://schemas.openxmlformats.org/officeDocument/2006/relationships/hyperlink" Target="../../Pr&#228;sentationen/Firmengruppen-Pr&#228;sentation/Finale%20Version/Die%20Raupenbagger.ppt" TargetMode="External"/><Relationship Id="rId23" Type="http://schemas.openxmlformats.org/officeDocument/2006/relationships/hyperlink" Target="../../Pr&#228;sentationen/Firmengruppen-Pr&#228;sentation/Finale%20Version/Die%20Muldenkipper.ppt" TargetMode="External"/><Relationship Id="rId28" Type="http://schemas.openxmlformats.org/officeDocument/2006/relationships/image" Target="../media/image16.jpeg"/><Relationship Id="rId36" Type="http://schemas.openxmlformats.org/officeDocument/2006/relationships/image" Target="../media/image21.jpeg"/><Relationship Id="rId10" Type="http://schemas.openxmlformats.org/officeDocument/2006/relationships/image" Target="../media/image7.jpeg"/><Relationship Id="rId19" Type="http://schemas.openxmlformats.org/officeDocument/2006/relationships/hyperlink" Target="../../Pr&#228;sentationen/Firmengruppen-Pr&#228;sentation/Finale%20Version/Die%20Radlader.ppt" TargetMode="External"/><Relationship Id="rId31" Type="http://schemas.openxmlformats.org/officeDocument/2006/relationships/image" Target="../media/image18.jpeg"/><Relationship Id="rId4" Type="http://schemas.openxmlformats.org/officeDocument/2006/relationships/image" Target="../media/image4.jpeg"/><Relationship Id="rId9" Type="http://schemas.openxmlformats.org/officeDocument/2006/relationships/hyperlink" Target="../../Pr&#228;sentationen/Firmengruppen-Pr&#228;sentation/Finale%20Version/Der%20Werkzeugmaschinenbereich.ppt" TargetMode="External"/><Relationship Id="rId14" Type="http://schemas.openxmlformats.org/officeDocument/2006/relationships/image" Target="../media/image9.jpeg"/><Relationship Id="rId22" Type="http://schemas.openxmlformats.org/officeDocument/2006/relationships/image" Target="../media/image13.jpeg"/><Relationship Id="rId27" Type="http://schemas.openxmlformats.org/officeDocument/2006/relationships/hyperlink" Target="../../Pr&#228;sentationen/Firmengruppen-Pr&#228;sentation/Finale%20Version/Die%20Raupenkrane.ppt" TargetMode="External"/><Relationship Id="rId30" Type="http://schemas.openxmlformats.org/officeDocument/2006/relationships/image" Target="../media/image17.jpeg"/><Relationship Id="rId35" Type="http://schemas.openxmlformats.org/officeDocument/2006/relationships/image" Target="../media/image20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de-DE" dirty="0" smtClean="0">
                <a:solidFill>
                  <a:schemeClr val="tx1"/>
                </a:solidFill>
              </a:rPr>
              <a:t>Sculi 1-2 </a:t>
            </a:r>
            <a:r>
              <a:rPr lang="de-DE" dirty="0" err="1" smtClean="0">
                <a:solidFill>
                  <a:schemeClr val="tx1"/>
                </a:solidFill>
              </a:rPr>
              <a:t>and</a:t>
            </a:r>
            <a:r>
              <a:rPr lang="de-DE" dirty="0" smtClean="0">
                <a:solidFill>
                  <a:schemeClr val="tx1"/>
                </a:solidFill>
              </a:rPr>
              <a:t> </a:t>
            </a:r>
            <a:r>
              <a:rPr lang="de-DE" dirty="0" err="1" smtClean="0">
                <a:solidFill>
                  <a:schemeClr val="tx1"/>
                </a:solidFill>
              </a:rPr>
              <a:t>Lidec</a:t>
            </a:r>
            <a:r>
              <a:rPr lang="de-DE" dirty="0" smtClean="0">
                <a:solidFill>
                  <a:schemeClr val="tx1"/>
                </a:solidFill>
              </a:rPr>
              <a:t> 1-2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1811338"/>
            <a:ext cx="9047163" cy="430887"/>
          </a:xfrm>
        </p:spPr>
        <p:txBody>
          <a:bodyPr/>
          <a:lstStyle/>
          <a:p>
            <a:pPr eaLnBrk="1" hangingPunct="1"/>
            <a:r>
              <a:rPr lang="de-DE" dirty="0" smtClean="0"/>
              <a:t>Roadmap</a:t>
            </a:r>
          </a:p>
        </p:txBody>
      </p: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395288" y="2703513"/>
            <a:ext cx="9097962" cy="1489075"/>
            <a:chOff x="230" y="1703"/>
            <a:chExt cx="5290" cy="938"/>
          </a:xfrm>
        </p:grpSpPr>
        <p:pic>
          <p:nvPicPr>
            <p:cNvPr id="3077" name="Picture 5" descr="S4_12">
              <a:hlinkClick r:id="rId3" action="ppaction://hlinkpres?slideindex=1&amp;slidetitle=Die Kühl- und Gefriergeräte" tooltip="Die Kuehl- und Gefriergeraete"/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0" y="2187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8" name="Picture 6" descr="S4_13">
              <a:hlinkClick r:id="rId5" action="ppaction://hlinkpres?slideindex=1&amp;slidetitle=Die Luftfahrtausrüstungen" tooltip="Die Luftfahrtausruestung"/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6" y="2188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9" name="Picture 7" descr="S4_14">
              <a:hlinkClick r:id="rId7" action="ppaction://hlinkpres?slideindex=1&amp;slidetitle=Die Verkehrstechnik" tooltip="Die Verkehrstechnik"/>
            </p:cNvPr>
            <p:cNvPicPr>
              <a:picLocks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" y="2188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8" descr="S4_15">
              <a:hlinkClick r:id="rId9" action="ppaction://hlinkpres?slideindex=1&amp;slidetitle=Der Werkzeugmaschinenbereich" tooltip="Der Werkzeugmaschinenbereich"/>
            </p:cNvPr>
            <p:cNvPicPr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6" y="2186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9" descr="S4_18">
              <a:hlinkClick r:id="rId11" action="ppaction://hlinkpres?slideindex=1&amp;slidetitle=Die Hotels" tooltip="Die Hotels"/>
            </p:cNvPr>
            <p:cNvPicPr>
              <a:picLocks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7" y="2188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10" descr="S4_3">
              <a:hlinkClick r:id="rId13" action="ppaction://hlinkpres?slideindex=1&amp;slidetitle=Die Mobilbagger" tooltip="Die Mobilbagger"/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4" y="1703"/>
              <a:ext cx="56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11" descr="S4_4">
              <a:hlinkClick r:id="rId15" action="ppaction://hlinkpres?slideindex=1&amp;slidetitle=Die Raupenbagger" tooltip="Die Raupenbagger"/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3" y="1703"/>
              <a:ext cx="56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4" name="Picture 12" descr="S4_6">
              <a:hlinkClick r:id="rId17" action="ppaction://hlinkpres?slideindex=1&amp;slidetitle=Die Hydroseilbagger" tooltip="Die Hydroseilbagger, Ramm- und Bohrgeraete"/>
            </p:cNvPr>
            <p:cNvPicPr>
              <a:picLocks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" y="1703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5" name="Picture 13" descr="S4_8">
              <a:hlinkClick r:id="rId19" action="ppaction://hlinkpres?slideindex=1&amp;slidetitle=Die Radlader" tooltip="Die Radlader"/>
            </p:cNvPr>
            <p:cNvPicPr>
              <a:picLocks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9" y="1705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6" name="Picture 14" descr="kleinbildchen2">
              <a:hlinkClick r:id="rId21" action="ppaction://hlinkpres?slideindex=1&amp;slidetitle=Die Mischtechnik" tooltip="Die Mischtechnik"/>
            </p:cNvPr>
            <p:cNvPicPr>
              <a:picLocks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" y="1703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7" name="Picture 15" descr="kleinbildchen5">
              <a:hlinkClick r:id="rId23" action="ppaction://hlinkpres?slideindex=1&amp;slidetitle=Die Muldenkipper" tooltip="Die Muldenkipper"/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5" y="1703"/>
              <a:ext cx="56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8" name="Picture 16" descr="kleinbildchen9">
              <a:hlinkClick r:id="rId25" action="ppaction://hlinkpres?slideindex=1&amp;slidetitle=Die Fahrzeugkrane" tooltip="Die Fahrzeugkrane"/>
            </p:cNvPr>
            <p:cNvPicPr>
              <a:picLocks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0" y="1703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9" name="Picture 17" descr="kleinbildchen10">
              <a:hlinkClick r:id="rId27" action="ppaction://hlinkpres?slideindex=1&amp;slidetitle=Die Raupenkrane" tooltip="Die Raupenkrane"/>
            </p:cNvPr>
            <p:cNvPicPr>
              <a:picLocks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" y="2186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0" name="Picture 18" descr="kleinbildchen11">
              <a:hlinkClick r:id="rId29" action="ppaction://hlinkpres?slideindex=1&amp;slidetitle=Die maritimen Krane" tooltip="Die maritimen Krane"/>
            </p:cNvPr>
            <p:cNvPicPr>
              <a:picLocks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" y="2186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1" name="Picture 19" descr="kleinbildchen12">
              <a:hlinkClick r:id="rId29" action="ppaction://hlinkpres?slideindex=1&amp;slidetitle=Die maritimen Krane" tooltip="Die Containerkrane"/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3" y="2187"/>
              <a:ext cx="559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2" name="Picture 20" descr="kleinbildchen17">
              <a:hlinkClick r:id="rId32" action="ppaction://hlinkpres?slideindex=1&amp;slidetitle=Die Komponenten" tooltip="Die Komponenten"/>
            </p:cNvPr>
            <p:cNvPicPr>
              <a:picLocks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4" y="2186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3" name="Picture 21" descr="kleinbildchen7">
              <a:hlinkClick r:id="rId34" action="ppaction://hlinkpres?slideindex=1&amp;slidetitle=Planier- und Laderaupen, Rohrleger, Teleskoplader" tooltip="Die Planier- und Laderaupen, Rohrleger, Teleskoplader"/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6" y="1704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4" name="Picture 22" descr="kleinbildchen1"/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" y="1704"/>
              <a:ext cx="56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150938"/>
            <a:ext cx="6978650" cy="2759859"/>
          </a:xfrm>
        </p:spPr>
        <p:txBody>
          <a:bodyPr/>
          <a:lstStyle/>
          <a:p>
            <a:r>
              <a:rPr lang="en-US" sz="1800" b="0" dirty="0" smtClean="0"/>
              <a:t>Architecture of Sculi 2</a:t>
            </a:r>
          </a:p>
          <a:p>
            <a:endParaRPr lang="en-US" sz="1800" b="0" dirty="0" smtClean="0"/>
          </a:p>
          <a:p>
            <a:r>
              <a:rPr lang="en-US" sz="1800" b="0" dirty="0" err="1" smtClean="0"/>
              <a:t>Lidec</a:t>
            </a:r>
            <a:r>
              <a:rPr lang="en-US" sz="1800" b="0" dirty="0" smtClean="0"/>
              <a:t> 1 + </a:t>
            </a:r>
            <a:r>
              <a:rPr lang="en-US" sz="1800" b="0" dirty="0" err="1" smtClean="0"/>
              <a:t>Lidec</a:t>
            </a:r>
            <a:r>
              <a:rPr lang="en-US" sz="1800" b="0" dirty="0" smtClean="0"/>
              <a:t> 2</a:t>
            </a:r>
          </a:p>
          <a:p>
            <a:endParaRPr lang="en-US" sz="1800" b="0" dirty="0" smtClean="0"/>
          </a:p>
          <a:p>
            <a:endParaRPr lang="en-US" sz="1800" b="0" dirty="0"/>
          </a:p>
          <a:p>
            <a:endParaRPr lang="en-US" sz="1800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2858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4" y="1150938"/>
            <a:ext cx="8778875" cy="4440319"/>
          </a:xfrm>
        </p:spPr>
        <p:txBody>
          <a:bodyPr/>
          <a:lstStyle/>
          <a:p>
            <a:pPr marL="0" indent="0" algn="ctr">
              <a:buNone/>
            </a:pPr>
            <a:endParaRPr lang="en-US" sz="4400" b="0" dirty="0" smtClean="0"/>
          </a:p>
          <a:p>
            <a:pPr marL="0" indent="0" algn="ctr">
              <a:buNone/>
            </a:pPr>
            <a:endParaRPr lang="en-US" sz="4400" b="0" dirty="0"/>
          </a:p>
          <a:p>
            <a:pPr marL="0" indent="0" algn="ctr">
              <a:buNone/>
            </a:pPr>
            <a:r>
              <a:rPr lang="en-US" sz="4400" b="0" dirty="0" smtClean="0"/>
              <a:t>Architecture of Sculi 2</a:t>
            </a:r>
          </a:p>
          <a:p>
            <a:endParaRPr lang="en-US" sz="1800" b="0" dirty="0" smtClean="0"/>
          </a:p>
          <a:p>
            <a:endParaRPr lang="en-US" sz="1800" b="0" dirty="0"/>
          </a:p>
          <a:p>
            <a:endParaRPr lang="en-US" sz="1800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51282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- Sculi and ODX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7975" y="1017588"/>
            <a:ext cx="6978650" cy="725456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Open Diagnostic data </a:t>
            </a:r>
            <a:r>
              <a:rPr lang="en-US" sz="1800" b="0" dirty="0" err="1" smtClean="0"/>
              <a:t>eXchange</a:t>
            </a:r>
            <a:endParaRPr lang="en-US" sz="18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XML format</a:t>
            </a:r>
            <a:endParaRPr lang="en-US" sz="1800" b="0" dirty="0"/>
          </a:p>
        </p:txBody>
      </p:sp>
      <p:pic>
        <p:nvPicPr>
          <p:cNvPr id="11268" name="Picture 2" descr="image0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1457325"/>
            <a:ext cx="589095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7657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- Sculi </a:t>
            </a:r>
            <a:r>
              <a:rPr lang="en-US" dirty="0" smtClean="0"/>
              <a:t>and ODX -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  <p:pic>
        <p:nvPicPr>
          <p:cNvPr id="11267" name="Picture 1" descr="image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866900"/>
            <a:ext cx="87820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6716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- Sculi </a:t>
            </a:r>
            <a:r>
              <a:rPr lang="en-US" dirty="0" smtClean="0"/>
              <a:t>and ODX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995363"/>
            <a:ext cx="8362950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25822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4" y="1150938"/>
            <a:ext cx="8778875" cy="4440319"/>
          </a:xfrm>
        </p:spPr>
        <p:txBody>
          <a:bodyPr/>
          <a:lstStyle/>
          <a:p>
            <a:pPr marL="0" indent="0" algn="ctr">
              <a:buNone/>
            </a:pPr>
            <a:endParaRPr lang="en-US" sz="4400" b="0" dirty="0" smtClean="0"/>
          </a:p>
          <a:p>
            <a:pPr marL="0" indent="0" algn="ctr">
              <a:buNone/>
            </a:pPr>
            <a:endParaRPr lang="en-US" sz="4400" b="0" dirty="0"/>
          </a:p>
          <a:p>
            <a:pPr marL="0" indent="0" algn="ctr">
              <a:buNone/>
            </a:pPr>
            <a:r>
              <a:rPr lang="en-US" sz="4400" b="0" dirty="0" err="1" smtClean="0"/>
              <a:t>Lidec</a:t>
            </a:r>
            <a:r>
              <a:rPr lang="en-US" sz="4400" b="0" dirty="0" smtClean="0"/>
              <a:t> 1 / </a:t>
            </a:r>
            <a:r>
              <a:rPr lang="en-US" sz="4400" b="0" dirty="0" err="1" smtClean="0"/>
              <a:t>Lidec</a:t>
            </a:r>
            <a:r>
              <a:rPr lang="en-US" sz="4400" b="0" dirty="0" smtClean="0"/>
              <a:t> 2</a:t>
            </a:r>
          </a:p>
          <a:p>
            <a:endParaRPr lang="en-US" sz="1800" b="0" dirty="0" smtClean="0"/>
          </a:p>
          <a:p>
            <a:endParaRPr lang="en-US" sz="1800" b="0" dirty="0"/>
          </a:p>
          <a:p>
            <a:endParaRPr lang="en-US" sz="1800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65497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Lidec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150938"/>
            <a:ext cx="6978650" cy="386477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Performance problems with Sculi 1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1800" b="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Possible roadmaps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n-US" sz="1400" dirty="0" smtClean="0"/>
          </a:p>
          <a:p>
            <a:pPr lvl="1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/>
              <a:t>Improvement in Sculi 1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! Analysis of the complexity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! Delphi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endParaRPr lang="en-US" sz="1400" dirty="0" smtClean="0"/>
          </a:p>
          <a:p>
            <a:pPr marL="609600" lvl="1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/>
              <a:t>Waiting on Sculi 2</a:t>
            </a:r>
          </a:p>
          <a:p>
            <a:pPr marL="939800" lvl="2" indent="-342900">
              <a:spcBef>
                <a:spcPts val="600"/>
              </a:spcBef>
              <a:spcAft>
                <a:spcPts val="0"/>
              </a:spcAft>
            </a:pPr>
            <a:r>
              <a:rPr lang="en-US" dirty="0" smtClean="0"/>
              <a:t>! Time needed to have all functionalities</a:t>
            </a:r>
            <a:endParaRPr lang="en-US" dirty="0"/>
          </a:p>
          <a:p>
            <a:pPr marL="609600" lvl="1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/>
          </a:p>
          <a:p>
            <a:pPr lvl="2">
              <a:spcBef>
                <a:spcPts val="600"/>
              </a:spcBef>
            </a:pP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1630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Lidec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07975" y="1150938"/>
            <a:ext cx="6978650" cy="4680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>
            <a:lvl1pPr marL="265113" indent="-26511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539750" indent="-27305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2pPr>
            <a:lvl3pPr marL="869950" indent="-328613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3pPr>
            <a:lvl4pPr marL="1173163" indent="-28892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4pPr>
            <a:lvl5pPr marL="1466850" indent="-2921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5pPr>
            <a:lvl6pPr marL="1924050" indent="-292100" algn="l" rtl="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6pPr>
            <a:lvl7pPr marL="2381250" indent="-292100" algn="l" rtl="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7pPr>
            <a:lvl8pPr marL="2838450" indent="-292100" algn="l" rtl="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8pPr>
            <a:lvl9pPr marL="3295650" indent="-292100" algn="l" rtl="0" fontAlgn="base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To study / evaluate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Sculi and ODX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The possibility to buy communication layer from </a:t>
            </a:r>
            <a:r>
              <a:rPr lang="en-US" sz="1200" b="0" dirty="0" err="1" smtClean="0"/>
              <a:t>Sontheim</a:t>
            </a:r>
            <a:r>
              <a:rPr lang="en-US" sz="1200" b="0" dirty="0" smtClean="0"/>
              <a:t>, Vector or </a:t>
            </a:r>
            <a:r>
              <a:rPr lang="en-US" sz="1200" b="0" dirty="0" err="1" smtClean="0"/>
              <a:t>Softing</a:t>
            </a:r>
            <a:r>
              <a:rPr lang="en-US" sz="1200" b="0" dirty="0" smtClean="0"/>
              <a:t>.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>
                <a:sym typeface="Wingdings" pitchFamily="2" charset="2"/>
              </a:rPr>
              <a:t> Meeting on 29</a:t>
            </a:r>
            <a:r>
              <a:rPr lang="en-US" sz="1200" b="0" baseline="30000" dirty="0" smtClean="0">
                <a:sym typeface="Wingdings" pitchFamily="2" charset="2"/>
              </a:rPr>
              <a:t>th</a:t>
            </a:r>
            <a:r>
              <a:rPr lang="en-US" sz="1200" b="0" dirty="0" smtClean="0">
                <a:sym typeface="Wingdings" pitchFamily="2" charset="2"/>
              </a:rPr>
              <a:t> February</a:t>
            </a:r>
            <a:endParaRPr lang="en-US" sz="12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1800" b="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Possible roadmaps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n-US" b="0" dirty="0" smtClean="0"/>
          </a:p>
          <a:p>
            <a:pPr lvl="1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0" dirty="0" smtClean="0"/>
              <a:t>Integration in Sculi 1</a:t>
            </a:r>
            <a:endParaRPr lang="en-US" b="0" dirty="0"/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! Analysis of the complexity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! Delphi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endParaRPr lang="en-US" sz="1400" b="0" dirty="0"/>
          </a:p>
          <a:p>
            <a:pPr marL="609600" lvl="1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0" dirty="0" smtClean="0"/>
              <a:t>Waiting of Sculi 2</a:t>
            </a:r>
            <a:endParaRPr lang="en-US" b="0" dirty="0"/>
          </a:p>
          <a:p>
            <a:pPr marL="939800" lvl="2" indent="-342900">
              <a:spcBef>
                <a:spcPts val="600"/>
              </a:spcBef>
              <a:spcAft>
                <a:spcPts val="0"/>
              </a:spcAft>
            </a:pPr>
            <a:r>
              <a:rPr lang="en-US" b="0" dirty="0"/>
              <a:t>! </a:t>
            </a:r>
            <a:r>
              <a:rPr lang="en-US" b="0" dirty="0" smtClean="0"/>
              <a:t>We must precise the roadmap and define deadlines</a:t>
            </a:r>
            <a:endParaRPr lang="en-US" b="0" dirty="0"/>
          </a:p>
          <a:p>
            <a:pPr marL="609600" lvl="1" indent="-3429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/>
          </a:p>
          <a:p>
            <a:pPr lvl="2">
              <a:spcBef>
                <a:spcPts val="60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77806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4" y="1150938"/>
            <a:ext cx="8778875" cy="4440319"/>
          </a:xfrm>
        </p:spPr>
        <p:txBody>
          <a:bodyPr/>
          <a:lstStyle/>
          <a:p>
            <a:pPr marL="0" indent="0" algn="ctr">
              <a:buNone/>
            </a:pPr>
            <a:endParaRPr lang="en-US" sz="4400" b="0" dirty="0" smtClean="0"/>
          </a:p>
          <a:p>
            <a:pPr marL="0" indent="0" algn="ctr">
              <a:buNone/>
            </a:pPr>
            <a:endParaRPr lang="en-US" sz="4400" b="0" dirty="0"/>
          </a:p>
          <a:p>
            <a:pPr marL="0" indent="0" algn="ctr">
              <a:buNone/>
            </a:pPr>
            <a:r>
              <a:rPr lang="en-US" sz="4400" b="0" dirty="0" smtClean="0"/>
              <a:t>Suggestion</a:t>
            </a:r>
          </a:p>
          <a:p>
            <a:endParaRPr lang="en-US" sz="1800" b="0" dirty="0" smtClean="0"/>
          </a:p>
          <a:p>
            <a:endParaRPr lang="en-US" sz="1800" b="0" dirty="0"/>
          </a:p>
          <a:p>
            <a:endParaRPr lang="en-US" sz="1800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97546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 suggestion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150938"/>
            <a:ext cx="6978650" cy="395711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Phase 1 (</a:t>
            </a:r>
            <a:r>
              <a:rPr lang="en-US" sz="1800" b="0" dirty="0" smtClean="0">
                <a:sym typeface="Wingdings" pitchFamily="2" charset="2"/>
              </a:rPr>
              <a:t> 01.05.2012)</a:t>
            </a:r>
            <a:endParaRPr lang="en-US" sz="1800" b="0" dirty="0" smtClean="0"/>
          </a:p>
          <a:p>
            <a:pPr marL="617537" lvl="1" indent="-342900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Resolving </a:t>
            </a:r>
            <a:r>
              <a:rPr lang="en-US" sz="1200" b="0" dirty="0"/>
              <a:t>the next </a:t>
            </a:r>
            <a:r>
              <a:rPr lang="en-US" sz="1200" b="0" dirty="0" smtClean="0"/>
              <a:t>priorities </a:t>
            </a:r>
            <a:r>
              <a:rPr lang="en-US" sz="1200" b="0" dirty="0"/>
              <a:t>of </a:t>
            </a:r>
            <a:r>
              <a:rPr lang="en-US" sz="1200" b="0" dirty="0" smtClean="0"/>
              <a:t>Sculi 1</a:t>
            </a:r>
          </a:p>
          <a:p>
            <a:pPr marL="617537" lvl="1" indent="-342900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Study of 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ODX (</a:t>
            </a:r>
            <a:r>
              <a:rPr lang="en-US" sz="1200" b="0" dirty="0" err="1" smtClean="0"/>
              <a:t>Lidec</a:t>
            </a:r>
            <a:r>
              <a:rPr lang="en-US" sz="1200" b="0" dirty="0" smtClean="0"/>
              <a:t> 1 &amp; </a:t>
            </a:r>
            <a:r>
              <a:rPr lang="en-US" sz="1200" b="0" dirty="0" err="1" smtClean="0"/>
              <a:t>Lidec</a:t>
            </a:r>
            <a:r>
              <a:rPr lang="en-US" sz="1200" b="0" dirty="0" smtClean="0"/>
              <a:t> 2)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/>
              <a:t>UDS libraries (</a:t>
            </a:r>
            <a:r>
              <a:rPr lang="en-US" sz="1200" dirty="0" err="1" smtClean="0"/>
              <a:t>Sontheim</a:t>
            </a:r>
            <a:r>
              <a:rPr lang="en-US" sz="1200" dirty="0" smtClean="0"/>
              <a:t>, Vector, </a:t>
            </a:r>
            <a:r>
              <a:rPr lang="en-US" sz="1200" dirty="0" err="1" smtClean="0"/>
              <a:t>Softing</a:t>
            </a:r>
            <a:r>
              <a:rPr lang="en-US" sz="1200" dirty="0" smtClean="0"/>
              <a:t>)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Use Cases / Users / Workflow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sz="1200" b="0" dirty="0" smtClean="0"/>
              <a:t>Comparative Analysis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/>
              <a:t>Suggestions for a new Software Interface containing all functionalities</a:t>
            </a:r>
            <a:endParaRPr lang="en-US" sz="12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18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Phase 2 (</a:t>
            </a:r>
            <a:r>
              <a:rPr lang="en-US" sz="1800" b="0" dirty="0" smtClean="0">
                <a:sym typeface="Wingdings" pitchFamily="2" charset="2"/>
              </a:rPr>
              <a:t>01.</a:t>
            </a:r>
            <a:r>
              <a:rPr lang="en-US" sz="1800" b="0" dirty="0" smtClean="0"/>
              <a:t>05.2012</a:t>
            </a:r>
            <a:r>
              <a:rPr lang="en-US" sz="1800" b="0" dirty="0" smtClean="0">
                <a:sym typeface="Wingdings" pitchFamily="2" charset="2"/>
              </a:rPr>
              <a:t>)</a:t>
            </a:r>
            <a:endParaRPr lang="en-US" sz="1800" b="0" dirty="0" smtClean="0"/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/>
              <a:t>Starting the development of Sculi 2 focusing to </a:t>
            </a:r>
            <a:r>
              <a:rPr lang="en-US" sz="1200" dirty="0" err="1" smtClean="0"/>
              <a:t>Lidec</a:t>
            </a:r>
            <a:r>
              <a:rPr lang="en-US" sz="1200" dirty="0" smtClean="0"/>
              <a:t> 2 only</a:t>
            </a:r>
          </a:p>
          <a:p>
            <a:pPr lvl="2"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>
                <a:sym typeface="Wingdings" pitchFamily="2" charset="2"/>
              </a:rPr>
              <a:t> 1</a:t>
            </a:r>
            <a:r>
              <a:rPr lang="en-US" sz="1200" baseline="30000" dirty="0" smtClean="0">
                <a:sym typeface="Wingdings" pitchFamily="2" charset="2"/>
              </a:rPr>
              <a:t>st</a:t>
            </a:r>
            <a:r>
              <a:rPr lang="en-US" sz="1200" dirty="0" smtClean="0">
                <a:sym typeface="Wingdings" pitchFamily="2" charset="2"/>
              </a:rPr>
              <a:t> release</a:t>
            </a:r>
            <a:endParaRPr lang="en-US" sz="1200" dirty="0" smtClean="0"/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200" dirty="0"/>
              <a:t>Converting data </a:t>
            </a:r>
            <a:r>
              <a:rPr lang="en-US" sz="1200" dirty="0" smtClean="0"/>
              <a:t>from </a:t>
            </a:r>
            <a:r>
              <a:rPr lang="en-US" sz="1200" dirty="0" err="1"/>
              <a:t>Lidec</a:t>
            </a:r>
            <a:r>
              <a:rPr lang="en-US" sz="1200" dirty="0"/>
              <a:t> 1 to ODX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1200" dirty="0" smtClean="0"/>
              <a:t>Sculi 2 with </a:t>
            </a:r>
            <a:r>
              <a:rPr lang="en-US" sz="1200" dirty="0" err="1" smtClean="0"/>
              <a:t>Lidec</a:t>
            </a:r>
            <a:r>
              <a:rPr lang="en-US" sz="1200" dirty="0" smtClean="0"/>
              <a:t> 1 </a:t>
            </a: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75176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150938"/>
            <a:ext cx="6978650" cy="725456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endParaRPr lang="en-US" sz="18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b="0" dirty="0" smtClean="0"/>
              <a:t>TBD</a:t>
            </a: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2622D-48FD-4C89-AEE7-23002877840C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Sculi 2 - </a:t>
            </a:r>
            <a:r>
              <a:rPr lang="de-DE" dirty="0" err="1" smtClean="0"/>
              <a:t>roadmap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3740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4E3A31-6667-4DF8-854F-E3A401043CD1}" type="slidenum">
              <a:rPr lang="de-DE"/>
              <a:pPr>
                <a:defRPr/>
              </a:pPr>
              <a:t>13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Sculi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5775" y="2998788"/>
            <a:ext cx="6378575" cy="1079500"/>
          </a:xfrm>
        </p:spPr>
        <p:txBody>
          <a:bodyPr/>
          <a:lstStyle/>
          <a:p>
            <a:pPr eaLnBrk="1" hangingPunct="1"/>
            <a:r>
              <a:rPr lang="fr-CH" sz="3200" smtClean="0"/>
              <a:t>Thank you for your attention</a:t>
            </a:r>
            <a:endParaRPr lang="en-US" sz="32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9007">
  <a:themeElements>
    <a:clrScheme name="29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00"/>
      </a:accent1>
      <a:accent2>
        <a:srgbClr val="FFFF99"/>
      </a:accent2>
      <a:accent3>
        <a:srgbClr val="FFFFFF"/>
      </a:accent3>
      <a:accent4>
        <a:srgbClr val="000000"/>
      </a:accent4>
      <a:accent5>
        <a:srgbClr val="FFE2AA"/>
      </a:accent5>
      <a:accent6>
        <a:srgbClr val="E7E78A"/>
      </a:accent6>
      <a:hlink>
        <a:srgbClr val="B2B2B2"/>
      </a:hlink>
      <a:folHlink>
        <a:srgbClr val="DDDDDD"/>
      </a:folHlink>
    </a:clrScheme>
    <a:fontScheme name="29007">
      <a:majorFont>
        <a:latin typeface="Arial Black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30000"/>
          </a:schemeClr>
        </a:solidFill>
        <a:ln w="19050" cap="flat" cmpd="sng" algn="ctr">
          <a:solidFill>
            <a:srgbClr val="B563A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None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30000"/>
          </a:schemeClr>
        </a:solidFill>
        <a:ln w="19050" cap="flat" cmpd="sng" algn="ctr">
          <a:solidFill>
            <a:srgbClr val="B563A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None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9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E78A"/>
        </a:accent6>
        <a:hlink>
          <a:srgbClr val="B2B2B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29007</Template>
  <TotalTime>0</TotalTime>
  <Words>328</Words>
  <Application>Microsoft Office PowerPoint</Application>
  <PresentationFormat>A4 Paper (210x297 mm)</PresentationFormat>
  <Paragraphs>132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29007</vt:lpstr>
      <vt:lpstr>Sculi 1-2 and Lidec 1-2</vt:lpstr>
      <vt:lpstr>Agenda</vt:lpstr>
      <vt:lpstr>PowerPoint Presentation</vt:lpstr>
      <vt:lpstr>Architecture - Sculi and ODX</vt:lpstr>
      <vt:lpstr>Architecture - Sculi and ODX - categories</vt:lpstr>
      <vt:lpstr>Architecture - Sculi and ODX</vt:lpstr>
      <vt:lpstr>PowerPoint Presentation</vt:lpstr>
      <vt:lpstr>Lidec 1</vt:lpstr>
      <vt:lpstr>Lidec 2</vt:lpstr>
      <vt:lpstr>PowerPoint Presentation</vt:lpstr>
      <vt:lpstr>Roadmap suggestion</vt:lpstr>
      <vt:lpstr>Open</vt:lpstr>
      <vt:lpstr>PowerPoint Presentation</vt:lpstr>
    </vt:vector>
  </TitlesOfParts>
  <Company>Liebherr Machines Bulle 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différents programmes</dc:title>
  <dc:creator>Jacques Progin</dc:creator>
  <cp:lastModifiedBy>Terreaux Patrick (LMB)</cp:lastModifiedBy>
  <cp:revision>250</cp:revision>
  <dcterms:created xsi:type="dcterms:W3CDTF">2007-11-08T11:17:38Z</dcterms:created>
  <dcterms:modified xsi:type="dcterms:W3CDTF">2012-02-16T06:22:47Z</dcterms:modified>
</cp:coreProperties>
</file>