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5"/>
  </p:sldMasterIdLst>
  <p:notesMasterIdLst>
    <p:notesMasterId r:id="rId10"/>
  </p:notesMasterIdLst>
  <p:handoutMasterIdLst>
    <p:handoutMasterId r:id="rId11"/>
  </p:handoutMasterIdLst>
  <p:sldIdLst>
    <p:sldId id="301" r:id="rId6"/>
    <p:sldId id="300" r:id="rId7"/>
    <p:sldId id="296" r:id="rId8"/>
    <p:sldId id="297" r:id="rId9"/>
  </p:sldIdLst>
  <p:sldSz cx="9906000" cy="6858000" type="A4"/>
  <p:notesSz cx="6797675" cy="9926638"/>
  <p:defaultTextStyle>
    <a:defPPr>
      <a:defRPr lang="de-DE"/>
    </a:defPPr>
    <a:lvl1pPr algn="l" rtl="0" fontAlgn="base">
      <a:spcBef>
        <a:spcPct val="0"/>
      </a:spcBef>
      <a:spcAft>
        <a:spcPct val="40000"/>
      </a:spcAft>
      <a:buClr>
        <a:schemeClr val="accent1"/>
      </a:buClr>
      <a:buFont typeface="Wingdings" pitchFamily="2" charset="2"/>
      <a:buChar char="n"/>
      <a:defRPr sz="2200" b="1" kern="1200">
        <a:solidFill>
          <a:srgbClr val="000000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40000"/>
      </a:spcAft>
      <a:buClr>
        <a:schemeClr val="accent1"/>
      </a:buClr>
      <a:buFont typeface="Wingdings" pitchFamily="2" charset="2"/>
      <a:buChar char="n"/>
      <a:defRPr sz="2200" b="1" kern="1200">
        <a:solidFill>
          <a:srgbClr val="000000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40000"/>
      </a:spcAft>
      <a:buClr>
        <a:schemeClr val="accent1"/>
      </a:buClr>
      <a:buFont typeface="Wingdings" pitchFamily="2" charset="2"/>
      <a:buChar char="n"/>
      <a:defRPr sz="2200" b="1" kern="1200">
        <a:solidFill>
          <a:srgbClr val="000000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40000"/>
      </a:spcAft>
      <a:buClr>
        <a:schemeClr val="accent1"/>
      </a:buClr>
      <a:buFont typeface="Wingdings" pitchFamily="2" charset="2"/>
      <a:buChar char="n"/>
      <a:defRPr sz="2200" b="1" kern="1200">
        <a:solidFill>
          <a:srgbClr val="000000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40000"/>
      </a:spcAft>
      <a:buClr>
        <a:schemeClr val="accent1"/>
      </a:buClr>
      <a:buFont typeface="Wingdings" pitchFamily="2" charset="2"/>
      <a:buChar char="n"/>
      <a:defRPr sz="2200" b="1" kern="1200">
        <a:solidFill>
          <a:srgbClr val="000000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200" b="1" kern="1200">
        <a:solidFill>
          <a:srgbClr val="000000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200" b="1" kern="1200">
        <a:solidFill>
          <a:srgbClr val="000000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200" b="1" kern="1200">
        <a:solidFill>
          <a:srgbClr val="000000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200" b="1" kern="1200">
        <a:solidFill>
          <a:srgbClr val="000000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99"/>
    <a:srgbClr val="346691"/>
    <a:srgbClr val="394791"/>
    <a:srgbClr val="FFCC00"/>
    <a:srgbClr val="97A1D5"/>
    <a:srgbClr val="6373C1"/>
    <a:srgbClr val="FFFFCC"/>
    <a:srgbClr val="000066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57" autoAdjust="0"/>
    <p:restoredTop sz="94608" autoAdjust="0"/>
  </p:normalViewPr>
  <p:slideViewPr>
    <p:cSldViewPr snapToGrid="0">
      <p:cViewPr varScale="1">
        <p:scale>
          <a:sx n="114" d="100"/>
          <a:sy n="114" d="100"/>
        </p:scale>
        <p:origin x="-840" y="-10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1475" y="9594850"/>
            <a:ext cx="154305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Aft>
                <a:spcPct val="0"/>
              </a:spcAft>
              <a:buClrTx/>
              <a:buFontTx/>
              <a:buNone/>
              <a:defRPr sz="1000" b="0">
                <a:solidFill>
                  <a:schemeClr val="bg2"/>
                </a:solidFill>
                <a:latin typeface="Arial Black" pitchFamily="34" charset="0"/>
              </a:defRPr>
            </a:lvl1pPr>
          </a:lstStyle>
          <a:p>
            <a:pPr>
              <a:defRPr/>
            </a:pPr>
            <a:r>
              <a:rPr lang="de-DE"/>
              <a:t>XX.XX.XXXX</a:t>
            </a:r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374650" y="361950"/>
            <a:ext cx="5341938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Aft>
                <a:spcPct val="0"/>
              </a:spcAft>
              <a:buClrTx/>
              <a:buFontTx/>
              <a:buNone/>
              <a:defRPr sz="1600" b="0">
                <a:solidFill>
                  <a:schemeClr val="bg2"/>
                </a:solidFill>
                <a:latin typeface="Arial Black" pitchFamily="34" charset="0"/>
              </a:defRPr>
            </a:lvl1pPr>
          </a:lstStyle>
          <a:p>
            <a:pPr>
              <a:defRPr/>
            </a:pPr>
            <a:r>
              <a:rPr lang="de-DE"/>
              <a:t>Präsentationstitel eingeben</a:t>
            </a:r>
          </a:p>
        </p:txBody>
      </p:sp>
      <p:sp>
        <p:nvSpPr>
          <p:cNvPr id="163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479800" y="196850"/>
            <a:ext cx="2944813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Aft>
                <a:spcPct val="0"/>
              </a:spcAft>
              <a:buClrTx/>
              <a:buFontTx/>
              <a:buNone/>
              <a:defRPr sz="1200" b="0">
                <a:solidFill>
                  <a:schemeClr val="bg2"/>
                </a:solidFill>
                <a:latin typeface="Arial Black" pitchFamily="34" charset="0"/>
              </a:defRPr>
            </a:lvl1pPr>
          </a:lstStyle>
          <a:p>
            <a:pPr>
              <a:defRPr/>
            </a:pPr>
            <a:fld id="{A1786B7E-A5C5-488B-84D8-BDF1C0B9D329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pic>
        <p:nvPicPr>
          <p:cNvPr id="10245" name="Picture 6" descr="Logo neu Spatio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5113" y="9428163"/>
            <a:ext cx="2247900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86077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482975" y="200025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Aft>
                <a:spcPct val="0"/>
              </a:spcAft>
              <a:buClrTx/>
              <a:buFontTx/>
              <a:buNone/>
              <a:defRPr sz="1200" b="0">
                <a:solidFill>
                  <a:schemeClr val="bg2"/>
                </a:solidFill>
                <a:latin typeface="Arial Black" pitchFamily="34" charset="0"/>
              </a:defRPr>
            </a:lvl1pPr>
          </a:lstStyle>
          <a:p>
            <a:pPr>
              <a:defRPr/>
            </a:pPr>
            <a:fld id="{70673EAC-1B9C-4FAA-B701-3FFACA47C21C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4650" y="9593263"/>
            <a:ext cx="2946400" cy="20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Aft>
                <a:spcPct val="0"/>
              </a:spcAft>
              <a:buClrTx/>
              <a:buFontTx/>
              <a:buNone/>
              <a:defRPr sz="1000" b="0">
                <a:solidFill>
                  <a:schemeClr val="bg2"/>
                </a:solidFill>
                <a:latin typeface="Arial Black" pitchFamily="34" charset="0"/>
              </a:defRPr>
            </a:lvl1pPr>
          </a:lstStyle>
          <a:p>
            <a:pPr>
              <a:defRPr/>
            </a:pPr>
            <a:r>
              <a:rPr lang="de-DE"/>
              <a:t>XX.XX.XXXX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74650" y="228600"/>
            <a:ext cx="52355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Aft>
                <a:spcPct val="0"/>
              </a:spcAft>
              <a:buClrTx/>
              <a:buFontTx/>
              <a:buNone/>
              <a:defRPr sz="1600" b="0">
                <a:solidFill>
                  <a:schemeClr val="bg2"/>
                </a:solidFill>
                <a:latin typeface="Arial Black" pitchFamily="34" charset="0"/>
              </a:defRPr>
            </a:lvl1pPr>
          </a:lstStyle>
          <a:p>
            <a:pPr>
              <a:defRPr/>
            </a:pPr>
            <a:r>
              <a:rPr lang="de-DE"/>
              <a:t>Präsentationstitel eingeben</a:t>
            </a:r>
          </a:p>
        </p:txBody>
      </p:sp>
      <p:sp>
        <p:nvSpPr>
          <p:cNvPr id="8197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33363" y="850900"/>
            <a:ext cx="6330950" cy="43846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74663" y="5492750"/>
            <a:ext cx="5848350" cy="363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smtClean="0"/>
              <a:t>Textmasterformate durch Klicken bearbeiten</a:t>
            </a:r>
          </a:p>
          <a:p>
            <a:pPr lvl="1"/>
            <a:r>
              <a:rPr lang="de-DE" noProof="0" smtClean="0"/>
              <a:t>Zweite Ebene</a:t>
            </a:r>
          </a:p>
          <a:p>
            <a:pPr lvl="2"/>
            <a:r>
              <a:rPr lang="de-DE" noProof="0" smtClean="0"/>
              <a:t>Dritte Ebene</a:t>
            </a:r>
          </a:p>
          <a:p>
            <a:pPr lvl="3"/>
            <a:r>
              <a:rPr lang="de-DE" noProof="0" smtClean="0"/>
              <a:t>Vierte Ebene</a:t>
            </a:r>
          </a:p>
          <a:p>
            <a:pPr lvl="4"/>
            <a:r>
              <a:rPr lang="de-DE" noProof="0" smtClean="0"/>
              <a:t>Fünfte Ebene</a:t>
            </a:r>
          </a:p>
        </p:txBody>
      </p:sp>
      <p:pic>
        <p:nvPicPr>
          <p:cNvPr id="8199" name="Picture 15" descr="Logo neu Spatio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5113" y="9428163"/>
            <a:ext cx="2247900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6577853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7A35B5F4-43AB-401D-8668-20EBB25CE88F}" type="slidenum">
              <a:rPr lang="de-DE" sz="1200" b="0" smtClean="0">
                <a:solidFill>
                  <a:schemeClr val="bg2"/>
                </a:solidFill>
                <a:latin typeface="Arial Black" pitchFamily="34" charset="0"/>
              </a:rPr>
              <a:pPr eaLnBrk="1" hangingPunct="1"/>
              <a:t>1</a:t>
            </a:fld>
            <a:endParaRPr lang="de-DE" sz="1200" b="0" smtClean="0">
              <a:solidFill>
                <a:schemeClr val="bg2"/>
              </a:solidFill>
              <a:latin typeface="Arial Black" pitchFamily="34" charset="0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de-DE" sz="1000" b="0" smtClean="0">
                <a:solidFill>
                  <a:schemeClr val="bg2"/>
                </a:solidFill>
                <a:latin typeface="Arial Black" pitchFamily="34" charset="0"/>
              </a:rPr>
              <a:t>XX.XX.XXXX</a:t>
            </a:r>
          </a:p>
        </p:txBody>
      </p:sp>
      <p:sp>
        <p:nvSpPr>
          <p:cNvPr id="922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de-DE" sz="1600" b="0" smtClean="0">
                <a:solidFill>
                  <a:schemeClr val="bg2"/>
                </a:solidFill>
                <a:latin typeface="Arial Black" pitchFamily="34" charset="0"/>
              </a:rPr>
              <a:t>Präsentationstitel eingeben</a:t>
            </a:r>
          </a:p>
        </p:txBody>
      </p:sp>
      <p:sp>
        <p:nvSpPr>
          <p:cNvPr id="92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Logo neu Spatio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8950" y="6237288"/>
            <a:ext cx="263842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3"/>
          <p:cNvSpPr>
            <a:spLocks noChangeShapeType="1"/>
          </p:cNvSpPr>
          <p:nvPr/>
        </p:nvSpPr>
        <p:spPr bwMode="auto">
          <a:xfrm>
            <a:off x="412750" y="6169025"/>
            <a:ext cx="9045575" cy="0"/>
          </a:xfrm>
          <a:prstGeom prst="line">
            <a:avLst/>
          </a:prstGeom>
          <a:noFill/>
          <a:ln w="222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Text Box 14"/>
          <p:cNvSpPr txBox="1">
            <a:spLocks noChangeArrowheads="1"/>
          </p:cNvSpPr>
          <p:nvPr/>
        </p:nvSpPr>
        <p:spPr bwMode="auto">
          <a:xfrm rot="16200000">
            <a:off x="8878095" y="5241131"/>
            <a:ext cx="157321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800" rIns="90000" bIns="46800">
            <a:spAutoFit/>
          </a:bodyPr>
          <a:lstStyle>
            <a:lvl1pPr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Aft>
                <a:spcPct val="0"/>
              </a:spcAft>
              <a:buClrTx/>
              <a:buFontTx/>
              <a:buNone/>
              <a:defRPr/>
            </a:pPr>
            <a:r>
              <a:rPr lang="de-DE" sz="1000" b="0" smtClean="0">
                <a:solidFill>
                  <a:srgbClr val="C0C0C0"/>
                </a:solidFill>
              </a:rPr>
              <a:t>Copyright Liebherr 2007</a:t>
            </a:r>
          </a:p>
        </p:txBody>
      </p:sp>
      <p:sp>
        <p:nvSpPr>
          <p:cNvPr id="108551" name="Rectangle 7"/>
          <p:cNvSpPr>
            <a:spLocks noGrp="1" noChangeArrowheads="1"/>
          </p:cNvSpPr>
          <p:nvPr>
            <p:ph type="ctrTitle" sz="quarter"/>
          </p:nvPr>
        </p:nvSpPr>
        <p:spPr>
          <a:xfrm>
            <a:off x="412750" y="446088"/>
            <a:ext cx="9155113" cy="1468437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000" anchor="b"/>
          <a:lstStyle>
            <a:lvl1pPr algn="r">
              <a:defRPr sz="3200"/>
            </a:lvl1pPr>
          </a:lstStyle>
          <a:p>
            <a:pPr lvl="0"/>
            <a:r>
              <a:rPr lang="de-DE" noProof="0" smtClean="0"/>
              <a:t>Titelmasterformat durch Klicken bearbeiten</a:t>
            </a:r>
          </a:p>
        </p:txBody>
      </p:sp>
      <p:sp>
        <p:nvSpPr>
          <p:cNvPr id="108552" name="Rectangle 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520700" y="1811338"/>
            <a:ext cx="9047163" cy="1303337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/>
          <a:lstStyle>
            <a:lvl1pPr marL="0" indent="0" algn="r">
              <a:buFont typeface="Wingdings" pitchFamily="2" charset="2"/>
              <a:buNone/>
              <a:defRPr/>
            </a:lvl1pPr>
          </a:lstStyle>
          <a:p>
            <a:pPr lvl="0"/>
            <a:r>
              <a:rPr lang="de-DE" noProof="0" smtClean="0"/>
              <a:t>Formatvorlage des Untertitelmasters durch Klicken bearbeiten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320675" y="6350000"/>
            <a:ext cx="23114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Aft>
                <a:spcPct val="0"/>
              </a:spcAft>
              <a:buClrTx/>
              <a:buFontTx/>
              <a:buNone/>
              <a:defRPr sz="1200">
                <a:solidFill>
                  <a:srgbClr val="C0C0C0"/>
                </a:solidFill>
                <a:latin typeface="+mj-lt"/>
              </a:defRPr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5912353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A50D13-F40A-463D-9479-02FC2E0D2793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smtClean="0"/>
              <a:t>LMB | AC3 | S.Thomas | Project Status | 2012-05-09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566931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B59E07-B0A5-4DD3-8F5D-AF7DF6565522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smtClean="0"/>
              <a:t>LMB | AC3 | S.Thomas | Project Status | 2012-05-09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464576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07975" y="1150938"/>
            <a:ext cx="4133850" cy="20272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94225" y="1150938"/>
            <a:ext cx="4133850" cy="20272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7B4B25-B865-4BF4-AED9-8C3546782253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smtClean="0"/>
              <a:t>LMB | AC3 | S.Thomas | Project Status | 2012-05-09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1325440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D02DF5-ADBE-44A9-A42F-341F55576FB5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smtClean="0"/>
              <a:t>LMB | AC3 | S.Thomas | Project Status | 2012-05-09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332317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282D04-BEA8-4206-A7EA-048711664B71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smtClean="0"/>
              <a:t>LMB | AC3 | S.Thomas | Project Status | 2012-05-09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4410890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35D785-5598-4878-A317-43ACBF4871FE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smtClean="0"/>
              <a:t>LMB | AC3 | S.Thomas | Project Status | 2012-05-09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45410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0B1A85-138D-4974-82A3-7337B468A4B7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smtClean="0"/>
              <a:t>LMB | AC3 | S.Thomas | Project Status | 2012-05-09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560467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smtClean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983BD9-6E49-4B07-AB6A-7DC1DB564CC1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smtClean="0"/>
              <a:t>LMB | AC3 | S.Thomas | Project Status | 2012-05-09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3974068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E92597-9440-4B3B-BF97-BC41F1246F16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smtClean="0"/>
              <a:t>LMB | AC3 | S.Thomas | Project Status | 2012-05-09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1534854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881813" y="361950"/>
            <a:ext cx="2190750" cy="2816225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307975" y="361950"/>
            <a:ext cx="6421438" cy="2816225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5B4A98-EDE0-4F40-84B9-7E3FEEEAD4DE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smtClean="0"/>
              <a:t>LMB | AC3 | S.Thomas | Project Status | 2012-05-09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0127086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el, Text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2750" y="361950"/>
            <a:ext cx="8659152" cy="374650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7843" y="1150939"/>
            <a:ext cx="4127500" cy="2384372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00443" y="1150939"/>
            <a:ext cx="4127500" cy="2384372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5A8629-9180-49AF-9E2E-36CABA8D3B12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smtClean="0"/>
              <a:t>LMB | AC3 | S.Thomas | Project Status | 2012-05-09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320046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87313" y="777875"/>
            <a:ext cx="9748837" cy="0"/>
          </a:xfrm>
          <a:prstGeom prst="line">
            <a:avLst/>
          </a:prstGeom>
          <a:noFill/>
          <a:ln w="222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44488" y="6348413"/>
            <a:ext cx="682625" cy="231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Aft>
                <a:spcPct val="0"/>
              </a:spcAft>
              <a:buClrTx/>
              <a:buFontTx/>
              <a:buNone/>
              <a:defRPr sz="1200">
                <a:solidFill>
                  <a:srgbClr val="C0C0C0"/>
                </a:solidFill>
                <a:latin typeface="+mj-lt"/>
              </a:defRPr>
            </a:lvl1pPr>
          </a:lstStyle>
          <a:p>
            <a:pPr>
              <a:defRPr/>
            </a:pPr>
            <a:fld id="{F61898FB-6B6E-4B86-8649-5D8101430B59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107524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06438" y="6356350"/>
            <a:ext cx="51085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Aft>
                <a:spcPct val="0"/>
              </a:spcAft>
              <a:buClrTx/>
              <a:buFontTx/>
              <a:buNone/>
              <a:defRPr sz="1200">
                <a:solidFill>
                  <a:srgbClr val="C0C0C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 smtClean="0"/>
              <a:t>LMB | AC3 | S.Thomas | Project Status | 2012-05-09</a:t>
            </a:r>
            <a:endParaRPr lang="de-DE"/>
          </a:p>
        </p:txBody>
      </p:sp>
      <p:pic>
        <p:nvPicPr>
          <p:cNvPr id="1029" name="Picture 5" descr="Logo neu Spatio1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4688" y="6237288"/>
            <a:ext cx="263842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73025" y="6169025"/>
            <a:ext cx="9747250" cy="0"/>
          </a:xfrm>
          <a:prstGeom prst="line">
            <a:avLst/>
          </a:prstGeom>
          <a:noFill/>
          <a:ln w="222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412750" y="361950"/>
            <a:ext cx="8659813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99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Klicken Sie, um das Titelformat zu bearbeiten</a:t>
            </a:r>
          </a:p>
        </p:txBody>
      </p:sp>
      <p:sp>
        <p:nvSpPr>
          <p:cNvPr id="1032" name="Rectangle 1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7975" y="1150938"/>
            <a:ext cx="8420100" cy="2027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808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de-DE" smtClean="0"/>
              <a:t>Textmasterformate durch Klicken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</a:p>
        </p:txBody>
      </p:sp>
      <p:sp>
        <p:nvSpPr>
          <p:cNvPr id="1033" name="Text Box 14"/>
          <p:cNvSpPr txBox="1">
            <a:spLocks noChangeArrowheads="1"/>
          </p:cNvSpPr>
          <p:nvPr/>
        </p:nvSpPr>
        <p:spPr bwMode="auto">
          <a:xfrm rot="-5400000">
            <a:off x="8469313" y="4670425"/>
            <a:ext cx="2554287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800" rIns="90000" bIns="46800">
            <a:spAutoFit/>
          </a:bodyPr>
          <a:lstStyle>
            <a:lvl1pPr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Aft>
                <a:spcPct val="0"/>
              </a:spcAft>
              <a:buClrTx/>
              <a:buFontTx/>
              <a:buNone/>
              <a:defRPr/>
            </a:pPr>
            <a:r>
              <a:rPr lang="de-DE" sz="800" b="0" smtClean="0">
                <a:solidFill>
                  <a:srgbClr val="C0C0C0"/>
                </a:solidFill>
              </a:rPr>
              <a:t>Copyright Liebherr 2007 / LMB_0029_00057 Vers. 2.0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  <p:sldLayoutId id="2147483784" r:id="rId12"/>
  </p:sldLayoutIdLst>
  <p:transition/>
  <p:timing>
    <p:tnLst>
      <p:par>
        <p:cTn id="1" dur="indefinite" restart="never" nodeType="tmRoot"/>
      </p:par>
    </p:tnLst>
  </p:timing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Arial Black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Arial Black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Arial Black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Arial Black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Arial Black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Arial Black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Arial Black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Arial Black" pitchFamily="34" charset="0"/>
        </a:defRPr>
      </a:lvl9pPr>
    </p:titleStyle>
    <p:bodyStyle>
      <a:lvl1pPr marL="265113" indent="-265113" algn="l" rtl="0" eaLnBrk="1" fontAlgn="base" hangingPunct="1">
        <a:spcBef>
          <a:spcPct val="0"/>
        </a:spcBef>
        <a:spcAft>
          <a:spcPct val="40000"/>
        </a:spcAft>
        <a:buClr>
          <a:schemeClr val="accent1"/>
        </a:buClr>
        <a:buFont typeface="Wingdings" pitchFamily="2" charset="2"/>
        <a:buChar char="n"/>
        <a:defRPr sz="2200" b="1">
          <a:solidFill>
            <a:srgbClr val="000000"/>
          </a:solidFill>
          <a:latin typeface="+mn-lt"/>
          <a:ea typeface="+mn-ea"/>
          <a:cs typeface="+mn-cs"/>
        </a:defRPr>
      </a:lvl1pPr>
      <a:lvl2pPr marL="539750" indent="-273050" algn="l" rtl="0" eaLnBrk="1" fontAlgn="base" hangingPunct="1">
        <a:spcBef>
          <a:spcPct val="50000"/>
        </a:spcBef>
        <a:spcAft>
          <a:spcPct val="0"/>
        </a:spcAft>
        <a:buClr>
          <a:schemeClr val="accent1"/>
        </a:buClr>
        <a:buFont typeface="Wingdings" pitchFamily="2" charset="2"/>
        <a:buChar char="n"/>
        <a:defRPr sz="1600">
          <a:solidFill>
            <a:srgbClr val="000000"/>
          </a:solidFill>
          <a:latin typeface="+mn-lt"/>
          <a:cs typeface="+mn-cs"/>
        </a:defRPr>
      </a:lvl2pPr>
      <a:lvl3pPr marL="869950" indent="-328613" algn="l" rtl="0" eaLnBrk="1" fontAlgn="base" hangingPunct="1">
        <a:spcBef>
          <a:spcPct val="50000"/>
        </a:spcBef>
        <a:spcAft>
          <a:spcPct val="0"/>
        </a:spcAft>
        <a:buClr>
          <a:schemeClr val="accent1"/>
        </a:buClr>
        <a:buFont typeface="Wingdings" pitchFamily="2" charset="2"/>
        <a:buChar char="n"/>
        <a:defRPr sz="1600">
          <a:solidFill>
            <a:srgbClr val="000000"/>
          </a:solidFill>
          <a:latin typeface="+mn-lt"/>
          <a:cs typeface="+mn-cs"/>
        </a:defRPr>
      </a:lvl3pPr>
      <a:lvl4pPr marL="1173163" indent="-288925" algn="l" rtl="0" eaLnBrk="1" fontAlgn="base" hangingPunct="1">
        <a:spcBef>
          <a:spcPct val="50000"/>
        </a:spcBef>
        <a:spcAft>
          <a:spcPct val="0"/>
        </a:spcAft>
        <a:buClr>
          <a:schemeClr val="accent1"/>
        </a:buClr>
        <a:buFont typeface="Wingdings" pitchFamily="2" charset="2"/>
        <a:buChar char="n"/>
        <a:defRPr sz="1600">
          <a:solidFill>
            <a:srgbClr val="000000"/>
          </a:solidFill>
          <a:latin typeface="+mn-lt"/>
          <a:cs typeface="+mn-cs"/>
        </a:defRPr>
      </a:lvl4pPr>
      <a:lvl5pPr marL="1466850" indent="-292100" algn="l" rtl="0" eaLnBrk="1" fontAlgn="base" hangingPunct="1">
        <a:spcBef>
          <a:spcPct val="50000"/>
        </a:spcBef>
        <a:spcAft>
          <a:spcPct val="0"/>
        </a:spcAft>
        <a:buClr>
          <a:schemeClr val="accent1"/>
        </a:buClr>
        <a:buFont typeface="Wingdings" pitchFamily="2" charset="2"/>
        <a:buChar char="n"/>
        <a:defRPr sz="1600">
          <a:solidFill>
            <a:srgbClr val="000000"/>
          </a:solidFill>
          <a:latin typeface="+mn-lt"/>
          <a:cs typeface="+mn-cs"/>
        </a:defRPr>
      </a:lvl5pPr>
      <a:lvl6pPr marL="1924050" indent="-292100" algn="l" rtl="0" eaLnBrk="1" fontAlgn="base" hangingPunct="1">
        <a:spcBef>
          <a:spcPct val="50000"/>
        </a:spcBef>
        <a:spcAft>
          <a:spcPct val="0"/>
        </a:spcAft>
        <a:buClr>
          <a:schemeClr val="accent1"/>
        </a:buClr>
        <a:buFont typeface="Wingdings" pitchFamily="2" charset="2"/>
        <a:buChar char="n"/>
        <a:defRPr sz="1600">
          <a:solidFill>
            <a:srgbClr val="000000"/>
          </a:solidFill>
          <a:latin typeface="+mn-lt"/>
          <a:cs typeface="+mn-cs"/>
        </a:defRPr>
      </a:lvl6pPr>
      <a:lvl7pPr marL="2381250" indent="-292100" algn="l" rtl="0" eaLnBrk="1" fontAlgn="base" hangingPunct="1">
        <a:spcBef>
          <a:spcPct val="50000"/>
        </a:spcBef>
        <a:spcAft>
          <a:spcPct val="0"/>
        </a:spcAft>
        <a:buClr>
          <a:schemeClr val="accent1"/>
        </a:buClr>
        <a:buFont typeface="Wingdings" pitchFamily="2" charset="2"/>
        <a:buChar char="n"/>
        <a:defRPr sz="1600">
          <a:solidFill>
            <a:srgbClr val="000000"/>
          </a:solidFill>
          <a:latin typeface="+mn-lt"/>
          <a:cs typeface="+mn-cs"/>
        </a:defRPr>
      </a:lvl7pPr>
      <a:lvl8pPr marL="2838450" indent="-292100" algn="l" rtl="0" eaLnBrk="1" fontAlgn="base" hangingPunct="1">
        <a:spcBef>
          <a:spcPct val="50000"/>
        </a:spcBef>
        <a:spcAft>
          <a:spcPct val="0"/>
        </a:spcAft>
        <a:buClr>
          <a:schemeClr val="accent1"/>
        </a:buClr>
        <a:buFont typeface="Wingdings" pitchFamily="2" charset="2"/>
        <a:buChar char="n"/>
        <a:defRPr sz="1600">
          <a:solidFill>
            <a:srgbClr val="000000"/>
          </a:solidFill>
          <a:latin typeface="+mn-lt"/>
          <a:cs typeface="+mn-cs"/>
        </a:defRPr>
      </a:lvl8pPr>
      <a:lvl9pPr marL="3295650" indent="-292100" algn="l" rtl="0" eaLnBrk="1" fontAlgn="base" hangingPunct="1">
        <a:spcBef>
          <a:spcPct val="50000"/>
        </a:spcBef>
        <a:spcAft>
          <a:spcPct val="0"/>
        </a:spcAft>
        <a:buClr>
          <a:schemeClr val="accent1"/>
        </a:buClr>
        <a:buFont typeface="Wingdings" pitchFamily="2" charset="2"/>
        <a:buChar char="n"/>
        <a:defRPr sz="1600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02E425D-B22E-4D7D-94AD-5412FE5690F2}" type="slidenum">
              <a:rPr lang="de-DE"/>
              <a:pPr>
                <a:defRPr/>
              </a:pPr>
              <a:t>1</a:t>
            </a:fld>
            <a:endParaRPr lang="de-DE"/>
          </a:p>
        </p:txBody>
      </p:sp>
      <p:sp>
        <p:nvSpPr>
          <p:cNvPr id="2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dirty="0" smtClean="0"/>
              <a:t>LMB | AC3 | </a:t>
            </a:r>
            <a:r>
              <a:rPr lang="de-DE" dirty="0" smtClean="0"/>
              <a:t>P. Terreaux | </a:t>
            </a:r>
            <a:r>
              <a:rPr lang="de-DE" dirty="0" smtClean="0"/>
              <a:t>Project Status </a:t>
            </a:r>
            <a:r>
              <a:rPr lang="de-DE" dirty="0" smtClean="0"/>
              <a:t>Sculi | 2012-05-14</a:t>
            </a:r>
            <a:endParaRPr lang="de-DE" dirty="0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Project Status </a:t>
            </a:r>
            <a:r>
              <a:rPr lang="en-US" dirty="0" smtClean="0"/>
              <a:t>– </a:t>
            </a:r>
            <a:r>
              <a:rPr lang="en-US" dirty="0" smtClean="0"/>
              <a:t>Sculi (ITM)</a:t>
            </a:r>
            <a:endParaRPr lang="en-US" dirty="0" smtClean="0"/>
          </a:p>
        </p:txBody>
      </p:sp>
      <p:sp>
        <p:nvSpPr>
          <p:cNvPr id="5" name="Abgerundetes Rechteck 4"/>
          <p:cNvSpPr/>
          <p:nvPr/>
        </p:nvSpPr>
        <p:spPr bwMode="auto">
          <a:xfrm>
            <a:off x="374651" y="1063588"/>
            <a:ext cx="6567487" cy="1927225"/>
          </a:xfrm>
          <a:prstGeom prst="roundRect">
            <a:avLst>
              <a:gd name="adj" fmla="val 9948"/>
            </a:avLst>
          </a:prstGeom>
          <a:noFill/>
          <a:ln/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000" tIns="46800" rIns="90000" bIns="46800">
            <a:spAutoFit/>
          </a:bodyPr>
          <a:lstStyle/>
          <a:p>
            <a:pPr marL="265113" indent="-265113">
              <a:defRPr/>
            </a:pPr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4103" name="Gruppieren 11"/>
          <p:cNvGrpSpPr>
            <a:grpSpLocks/>
          </p:cNvGrpSpPr>
          <p:nvPr/>
        </p:nvGrpSpPr>
        <p:grpSpPr bwMode="auto">
          <a:xfrm>
            <a:off x="1792288" y="1803363"/>
            <a:ext cx="412750" cy="963612"/>
            <a:chOff x="1042989" y="4767560"/>
            <a:chExt cx="412114" cy="963930"/>
          </a:xfrm>
        </p:grpSpPr>
        <p:sp>
          <p:nvSpPr>
            <p:cNvPr id="16" name="Abgerundetes Rechteck 15"/>
            <p:cNvSpPr/>
            <p:nvPr/>
          </p:nvSpPr>
          <p:spPr bwMode="auto">
            <a:xfrm>
              <a:off x="1042989" y="4767560"/>
              <a:ext cx="412114" cy="963930"/>
            </a:xfrm>
            <a:prstGeom prst="roundRect">
              <a:avLst>
                <a:gd name="adj" fmla="val 15503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0000" tIns="46800" rIns="90000" bIns="46800">
              <a:spAutoFit/>
            </a:bodyPr>
            <a:lstStyle/>
            <a:p>
              <a:pPr marL="265113" indent="-265113"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4139" name="Oval 36" descr="255, 0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1141096" y="4887278"/>
              <a:ext cx="215900" cy="21590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36800" tIns="54000" rIns="0" bIns="54000" anchor="ctr"/>
            <a:lstStyle/>
            <a:p>
              <a:pPr algn="ctr"/>
              <a:endParaRPr lang="en-US" sz="1800"/>
            </a:p>
          </p:txBody>
        </p:sp>
        <p:sp>
          <p:nvSpPr>
            <p:cNvPr id="4140" name="Oval 37" descr="255, 255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1141096" y="5133340"/>
              <a:ext cx="215900" cy="215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1" name="Oval 38" descr="0, 255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1141096" y="5385753"/>
              <a:ext cx="215900" cy="2159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04" name="Textfeld 5"/>
          <p:cNvSpPr txBox="1">
            <a:spLocks noChangeArrowheads="1"/>
          </p:cNvSpPr>
          <p:nvPr/>
        </p:nvSpPr>
        <p:spPr bwMode="auto">
          <a:xfrm>
            <a:off x="1457326" y="1219163"/>
            <a:ext cx="1165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Aft>
                <a:spcPct val="0"/>
              </a:spcAft>
              <a:buFont typeface="Wingdings" pitchFamily="2" charset="2"/>
              <a:buNone/>
            </a:pPr>
            <a:r>
              <a:rPr lang="en-US" sz="1400"/>
              <a:t>Product</a:t>
            </a:r>
          </a:p>
          <a:p>
            <a:pPr algn="ctr" eaLnBrk="1" hangingPunct="1">
              <a:spcAft>
                <a:spcPct val="0"/>
              </a:spcAft>
              <a:buFont typeface="Wingdings" pitchFamily="2" charset="2"/>
              <a:buNone/>
            </a:pPr>
            <a:r>
              <a:rPr lang="en-US" sz="1400"/>
              <a:t>Maturity</a:t>
            </a:r>
          </a:p>
        </p:txBody>
      </p:sp>
      <p:sp>
        <p:nvSpPr>
          <p:cNvPr id="4105" name="Textfeld 14"/>
          <p:cNvSpPr txBox="1">
            <a:spLocks noChangeArrowheads="1"/>
          </p:cNvSpPr>
          <p:nvPr/>
        </p:nvSpPr>
        <p:spPr bwMode="auto">
          <a:xfrm>
            <a:off x="2524126" y="1219163"/>
            <a:ext cx="1165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Aft>
                <a:spcPct val="0"/>
              </a:spcAft>
              <a:buFont typeface="Wingdings" pitchFamily="2" charset="2"/>
              <a:buNone/>
            </a:pPr>
            <a:r>
              <a:rPr lang="en-US" sz="1400"/>
              <a:t>Integration</a:t>
            </a:r>
          </a:p>
          <a:p>
            <a:pPr algn="ctr" eaLnBrk="1" hangingPunct="1">
              <a:spcAft>
                <a:spcPct val="0"/>
              </a:spcAft>
              <a:buFont typeface="Wingdings" pitchFamily="2" charset="2"/>
              <a:buNone/>
            </a:pPr>
            <a:r>
              <a:rPr lang="en-US" sz="1400"/>
              <a:t>Maturity</a:t>
            </a:r>
          </a:p>
        </p:txBody>
      </p:sp>
      <p:grpSp>
        <p:nvGrpSpPr>
          <p:cNvPr id="4106" name="Gruppieren 6"/>
          <p:cNvGrpSpPr>
            <a:grpSpLocks/>
          </p:cNvGrpSpPr>
          <p:nvPr/>
        </p:nvGrpSpPr>
        <p:grpSpPr bwMode="auto">
          <a:xfrm>
            <a:off x="2900363" y="1809713"/>
            <a:ext cx="412750" cy="963612"/>
            <a:chOff x="2151381" y="4773613"/>
            <a:chExt cx="412114" cy="963930"/>
          </a:xfrm>
        </p:grpSpPr>
        <p:sp>
          <p:nvSpPr>
            <p:cNvPr id="17" name="Abgerundetes Rechteck 16"/>
            <p:cNvSpPr/>
            <p:nvPr/>
          </p:nvSpPr>
          <p:spPr bwMode="auto">
            <a:xfrm>
              <a:off x="2151381" y="4773613"/>
              <a:ext cx="412114" cy="963930"/>
            </a:xfrm>
            <a:prstGeom prst="roundRect">
              <a:avLst>
                <a:gd name="adj" fmla="val 15503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0000" tIns="46800" rIns="90000" bIns="46800">
              <a:spAutoFit/>
            </a:bodyPr>
            <a:lstStyle/>
            <a:p>
              <a:pPr marL="265113" indent="-265113"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4135" name="Oval 36" descr="255, 0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4893331"/>
              <a:ext cx="215900" cy="21590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36800" tIns="54000" rIns="0" bIns="54000" anchor="ctr"/>
            <a:lstStyle/>
            <a:p>
              <a:pPr algn="ctr"/>
              <a:endParaRPr lang="en-US" sz="1800"/>
            </a:p>
          </p:txBody>
        </p:sp>
        <p:sp>
          <p:nvSpPr>
            <p:cNvPr id="4136" name="Oval 37" descr="255, 255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5139393"/>
              <a:ext cx="215900" cy="215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7" name="Oval 38" descr="0, 255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5391806"/>
              <a:ext cx="215900" cy="2159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107" name="Gruppieren 22"/>
          <p:cNvGrpSpPr>
            <a:grpSpLocks/>
          </p:cNvGrpSpPr>
          <p:nvPr/>
        </p:nvGrpSpPr>
        <p:grpSpPr bwMode="auto">
          <a:xfrm>
            <a:off x="3991397" y="1803363"/>
            <a:ext cx="411162" cy="963612"/>
            <a:chOff x="1042989" y="4767560"/>
            <a:chExt cx="412114" cy="963930"/>
          </a:xfrm>
        </p:grpSpPr>
        <p:sp>
          <p:nvSpPr>
            <p:cNvPr id="26" name="Abgerundetes Rechteck 25"/>
            <p:cNvSpPr/>
            <p:nvPr/>
          </p:nvSpPr>
          <p:spPr bwMode="auto">
            <a:xfrm>
              <a:off x="1042989" y="4767560"/>
              <a:ext cx="412114" cy="963930"/>
            </a:xfrm>
            <a:prstGeom prst="roundRect">
              <a:avLst>
                <a:gd name="adj" fmla="val 15503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0000" tIns="46800" rIns="90000" bIns="46800">
              <a:spAutoFit/>
            </a:bodyPr>
            <a:lstStyle/>
            <a:p>
              <a:pPr marL="265113" indent="-265113"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4131" name="Oval 36" descr="255, 0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1141096" y="4887278"/>
              <a:ext cx="215900" cy="215900"/>
            </a:xfrm>
            <a:prstGeom prst="ellipse">
              <a:avLst/>
            </a:prstGeom>
            <a:solidFill>
              <a:srgbClr val="92D050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36800" tIns="54000" rIns="0" bIns="54000" anchor="ctr"/>
            <a:lstStyle/>
            <a:p>
              <a:pPr algn="ctr"/>
              <a:endParaRPr lang="en-US" sz="1800"/>
            </a:p>
          </p:txBody>
        </p:sp>
        <p:sp>
          <p:nvSpPr>
            <p:cNvPr id="4132" name="Oval 37" descr="255, 255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1141096" y="5133340"/>
              <a:ext cx="215900" cy="2159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3" name="Oval 38" descr="0, 255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1141096" y="5385753"/>
              <a:ext cx="215900" cy="2159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08" name="Textfeld 29"/>
          <p:cNvSpPr txBox="1">
            <a:spLocks noChangeArrowheads="1"/>
          </p:cNvSpPr>
          <p:nvPr/>
        </p:nvSpPr>
        <p:spPr bwMode="auto">
          <a:xfrm>
            <a:off x="3611717" y="1219163"/>
            <a:ext cx="11668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Aft>
                <a:spcPct val="0"/>
              </a:spcAft>
              <a:buFont typeface="Wingdings" pitchFamily="2" charset="2"/>
              <a:buNone/>
            </a:pPr>
            <a:r>
              <a:rPr lang="en-US" sz="1400" dirty="0"/>
              <a:t>Timing</a:t>
            </a:r>
          </a:p>
        </p:txBody>
      </p:sp>
      <p:sp>
        <p:nvSpPr>
          <p:cNvPr id="4109" name="Textfeld 30"/>
          <p:cNvSpPr txBox="1">
            <a:spLocks noChangeArrowheads="1"/>
          </p:cNvSpPr>
          <p:nvPr/>
        </p:nvSpPr>
        <p:spPr bwMode="auto">
          <a:xfrm>
            <a:off x="4695769" y="1219163"/>
            <a:ext cx="11668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Aft>
                <a:spcPct val="0"/>
              </a:spcAft>
              <a:buFont typeface="Wingdings" pitchFamily="2" charset="2"/>
              <a:buNone/>
            </a:pPr>
            <a:r>
              <a:rPr lang="en-US" sz="1400"/>
              <a:t>Quality</a:t>
            </a:r>
          </a:p>
        </p:txBody>
      </p:sp>
      <p:grpSp>
        <p:nvGrpSpPr>
          <p:cNvPr id="4110" name="Gruppieren 31"/>
          <p:cNvGrpSpPr>
            <a:grpSpLocks/>
          </p:cNvGrpSpPr>
          <p:nvPr/>
        </p:nvGrpSpPr>
        <p:grpSpPr bwMode="auto">
          <a:xfrm>
            <a:off x="5073594" y="1809713"/>
            <a:ext cx="411162" cy="963612"/>
            <a:chOff x="2151381" y="4773613"/>
            <a:chExt cx="412114" cy="963930"/>
          </a:xfrm>
        </p:grpSpPr>
        <p:sp>
          <p:nvSpPr>
            <p:cNvPr id="33" name="Abgerundetes Rechteck 32"/>
            <p:cNvSpPr/>
            <p:nvPr/>
          </p:nvSpPr>
          <p:spPr bwMode="auto">
            <a:xfrm>
              <a:off x="2151381" y="4773613"/>
              <a:ext cx="412114" cy="963930"/>
            </a:xfrm>
            <a:prstGeom prst="roundRect">
              <a:avLst>
                <a:gd name="adj" fmla="val 15503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0000" tIns="46800" rIns="90000" bIns="46800">
              <a:spAutoFit/>
            </a:bodyPr>
            <a:lstStyle/>
            <a:p>
              <a:pPr marL="265113" indent="-265113"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4127" name="Oval 36" descr="255, 0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4893331"/>
              <a:ext cx="215900" cy="21590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36800" tIns="54000" rIns="0" bIns="54000" anchor="ctr"/>
            <a:lstStyle/>
            <a:p>
              <a:pPr algn="ctr"/>
              <a:endParaRPr lang="en-US" sz="1800"/>
            </a:p>
          </p:txBody>
        </p:sp>
        <p:sp>
          <p:nvSpPr>
            <p:cNvPr id="4128" name="Oval 37" descr="255, 255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5139393"/>
              <a:ext cx="215900" cy="215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9" name="Oval 38" descr="0, 255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5391806"/>
              <a:ext cx="215900" cy="2159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11" name="Textfeld 42"/>
          <p:cNvSpPr txBox="1">
            <a:spLocks noChangeArrowheads="1"/>
          </p:cNvSpPr>
          <p:nvPr/>
        </p:nvSpPr>
        <p:spPr bwMode="auto">
          <a:xfrm>
            <a:off x="5886604" y="1219163"/>
            <a:ext cx="9413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Aft>
                <a:spcPct val="0"/>
              </a:spcAft>
              <a:buFont typeface="Wingdings" pitchFamily="2" charset="2"/>
              <a:buNone/>
            </a:pPr>
            <a:r>
              <a:rPr lang="en-US" sz="1400"/>
              <a:t>Costs</a:t>
            </a:r>
          </a:p>
        </p:txBody>
      </p:sp>
      <p:grpSp>
        <p:nvGrpSpPr>
          <p:cNvPr id="4112" name="Gruppieren 43"/>
          <p:cNvGrpSpPr>
            <a:grpSpLocks/>
          </p:cNvGrpSpPr>
          <p:nvPr/>
        </p:nvGrpSpPr>
        <p:grpSpPr bwMode="auto">
          <a:xfrm>
            <a:off x="6169179" y="1809713"/>
            <a:ext cx="411163" cy="963612"/>
            <a:chOff x="2151381" y="4773613"/>
            <a:chExt cx="412114" cy="963930"/>
          </a:xfrm>
        </p:grpSpPr>
        <p:sp>
          <p:nvSpPr>
            <p:cNvPr id="45" name="Abgerundetes Rechteck 44"/>
            <p:cNvSpPr/>
            <p:nvPr/>
          </p:nvSpPr>
          <p:spPr bwMode="auto">
            <a:xfrm>
              <a:off x="2151381" y="4773613"/>
              <a:ext cx="412114" cy="963930"/>
            </a:xfrm>
            <a:prstGeom prst="roundRect">
              <a:avLst>
                <a:gd name="adj" fmla="val 15503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0000" tIns="46800" rIns="90000" bIns="46800">
              <a:spAutoFit/>
            </a:bodyPr>
            <a:lstStyle/>
            <a:p>
              <a:pPr marL="265113" indent="-265113"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4123" name="Oval 36" descr="255, 0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4893331"/>
              <a:ext cx="215900" cy="21590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36800" tIns="54000" rIns="0" bIns="54000" anchor="ctr"/>
            <a:lstStyle/>
            <a:p>
              <a:pPr algn="ctr"/>
              <a:endParaRPr lang="en-US" sz="1800"/>
            </a:p>
          </p:txBody>
        </p:sp>
        <p:sp>
          <p:nvSpPr>
            <p:cNvPr id="4124" name="Oval 37" descr="255, 255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5139393"/>
              <a:ext cx="215900" cy="2159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5" name="Oval 38" descr="0, 255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5391806"/>
              <a:ext cx="215900" cy="2159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5" name="Abgerundetes Rechteck 54"/>
          <p:cNvSpPr/>
          <p:nvPr/>
        </p:nvSpPr>
        <p:spPr bwMode="auto">
          <a:xfrm>
            <a:off x="7094538" y="1073113"/>
            <a:ext cx="2492375" cy="1928812"/>
          </a:xfrm>
          <a:prstGeom prst="roundRect">
            <a:avLst>
              <a:gd name="adj" fmla="val 9948"/>
            </a:avLst>
          </a:prstGeom>
          <a:noFill/>
          <a:ln/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000" tIns="46800" rIns="90000" bIns="46800">
            <a:spAutoFit/>
          </a:bodyPr>
          <a:lstStyle/>
          <a:p>
            <a:pPr marL="265113" indent="-265113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6" name="Abgerundetes Rechteck 45"/>
          <p:cNvSpPr/>
          <p:nvPr/>
        </p:nvSpPr>
        <p:spPr bwMode="auto">
          <a:xfrm>
            <a:off x="360363" y="1066763"/>
            <a:ext cx="1138238" cy="1927225"/>
          </a:xfrm>
          <a:prstGeom prst="roundRect">
            <a:avLst>
              <a:gd name="adj" fmla="val 13811"/>
            </a:avLst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000" tIns="46800" rIns="90000" bIns="46800">
            <a:spAutoFit/>
          </a:bodyPr>
          <a:lstStyle/>
          <a:p>
            <a:pPr marL="265113" indent="-265113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116" name="Textfeld 48"/>
          <p:cNvSpPr txBox="1">
            <a:spLocks noChangeArrowheads="1"/>
          </p:cNvSpPr>
          <p:nvPr/>
        </p:nvSpPr>
        <p:spPr bwMode="auto">
          <a:xfrm>
            <a:off x="476251" y="1219163"/>
            <a:ext cx="904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Aft>
                <a:spcPct val="0"/>
              </a:spcAft>
              <a:buFont typeface="Wingdings" pitchFamily="2" charset="2"/>
              <a:buNone/>
            </a:pPr>
            <a:r>
              <a:rPr lang="en-US" sz="1400" dirty="0"/>
              <a:t>Project Status</a:t>
            </a:r>
          </a:p>
        </p:txBody>
      </p:sp>
      <p:grpSp>
        <p:nvGrpSpPr>
          <p:cNvPr id="4117" name="Gruppieren 49"/>
          <p:cNvGrpSpPr>
            <a:grpSpLocks/>
          </p:cNvGrpSpPr>
          <p:nvPr/>
        </p:nvGrpSpPr>
        <p:grpSpPr bwMode="auto">
          <a:xfrm>
            <a:off x="706438" y="1809713"/>
            <a:ext cx="412750" cy="963612"/>
            <a:chOff x="2151381" y="4773613"/>
            <a:chExt cx="412114" cy="963930"/>
          </a:xfrm>
        </p:grpSpPr>
        <p:sp>
          <p:nvSpPr>
            <p:cNvPr id="51" name="Abgerundetes Rechteck 50"/>
            <p:cNvSpPr/>
            <p:nvPr/>
          </p:nvSpPr>
          <p:spPr bwMode="auto">
            <a:xfrm>
              <a:off x="2151381" y="4773613"/>
              <a:ext cx="412114" cy="963930"/>
            </a:xfrm>
            <a:prstGeom prst="roundRect">
              <a:avLst>
                <a:gd name="adj" fmla="val 15503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0000" tIns="46800" rIns="90000" bIns="46800">
              <a:spAutoFit/>
            </a:bodyPr>
            <a:lstStyle/>
            <a:p>
              <a:pPr marL="265113" indent="-265113"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4119" name="Oval 36" descr="255, 0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4893331"/>
              <a:ext cx="215900" cy="21590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36800" tIns="54000" rIns="0" bIns="54000" anchor="ctr"/>
            <a:lstStyle/>
            <a:p>
              <a:pPr algn="ctr"/>
              <a:endParaRPr lang="en-US" sz="1800"/>
            </a:p>
          </p:txBody>
        </p:sp>
        <p:sp>
          <p:nvSpPr>
            <p:cNvPr id="4120" name="Oval 37" descr="255, 255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5139393"/>
              <a:ext cx="215900" cy="215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1" name="Oval 38" descr="0, 255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5391806"/>
              <a:ext cx="215900" cy="2159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9" name="Abgerundetes Rechteck 48"/>
          <p:cNvSpPr/>
          <p:nvPr/>
        </p:nvSpPr>
        <p:spPr bwMode="auto">
          <a:xfrm>
            <a:off x="360363" y="3172282"/>
            <a:ext cx="5526241" cy="2900714"/>
          </a:xfrm>
          <a:prstGeom prst="roundRect">
            <a:avLst>
              <a:gd name="adj" fmla="val 9948"/>
            </a:avLst>
          </a:prstGeom>
          <a:noFill/>
          <a:ln/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000" tIns="46800" rIns="90000" bIns="46800">
            <a:noAutofit/>
          </a:bodyPr>
          <a:lstStyle/>
          <a:p>
            <a:pPr marL="982663" indent="-982663">
              <a:buNone/>
              <a:defRPr/>
            </a:pPr>
            <a:r>
              <a:rPr lang="en-US" sz="1400" dirty="0" smtClean="0">
                <a:solidFill>
                  <a:srgbClr val="000000"/>
                </a:solidFill>
              </a:rPr>
              <a:t>Project: 	</a:t>
            </a:r>
            <a:r>
              <a:rPr lang="en-US" sz="1400" dirty="0" smtClean="0">
                <a:solidFill>
                  <a:srgbClr val="000000"/>
                </a:solidFill>
              </a:rPr>
              <a:t>6E0022</a:t>
            </a:r>
          </a:p>
          <a:p>
            <a:pPr marL="982663" indent="-982663">
              <a:buNone/>
              <a:defRPr/>
            </a:pPr>
            <a:endParaRPr lang="en-US" sz="1400" dirty="0" smtClean="0">
              <a:solidFill>
                <a:srgbClr val="000000"/>
              </a:solidFill>
            </a:endParaRPr>
          </a:p>
          <a:p>
            <a:pPr marL="982663" indent="-982663">
              <a:buNone/>
              <a:defRPr/>
            </a:pPr>
            <a:r>
              <a:rPr lang="en-US" sz="1200" b="0" dirty="0" smtClean="0">
                <a:solidFill>
                  <a:srgbClr val="000000"/>
                </a:solidFill>
              </a:rPr>
              <a:t>Customers:	</a:t>
            </a:r>
            <a:r>
              <a:rPr lang="en-US" sz="1200" b="0" dirty="0" smtClean="0">
                <a:solidFill>
                  <a:srgbClr val="000000"/>
                </a:solidFill>
              </a:rPr>
              <a:t>PME/ITM </a:t>
            </a:r>
            <a:br>
              <a:rPr lang="en-US" sz="1200" b="0" dirty="0" smtClean="0">
                <a:solidFill>
                  <a:srgbClr val="000000"/>
                </a:solidFill>
              </a:rPr>
            </a:br>
            <a:r>
              <a:rPr lang="en-US" sz="1200" b="0" dirty="0" smtClean="0">
                <a:solidFill>
                  <a:srgbClr val="000000"/>
                </a:solidFill>
              </a:rPr>
              <a:t>LFR, LMB, LHB, LWN, LWT, LBH</a:t>
            </a:r>
            <a:br>
              <a:rPr lang="en-US" sz="1200" b="0" dirty="0" smtClean="0">
                <a:solidFill>
                  <a:srgbClr val="000000"/>
                </a:solidFill>
              </a:rPr>
            </a:br>
            <a:r>
              <a:rPr lang="en-US" sz="1200" b="0" dirty="0" smtClean="0">
                <a:solidFill>
                  <a:srgbClr val="000000"/>
                </a:solidFill>
              </a:rPr>
              <a:t>External users</a:t>
            </a:r>
          </a:p>
          <a:p>
            <a:pPr marL="982663" indent="-982663">
              <a:buNone/>
              <a:defRPr/>
            </a:pPr>
            <a:endParaRPr lang="en-US" sz="1200" b="0" dirty="0" smtClean="0">
              <a:solidFill>
                <a:srgbClr val="000000"/>
              </a:solidFill>
            </a:endParaRPr>
          </a:p>
          <a:p>
            <a:pPr marL="982663" indent="-982663">
              <a:buNone/>
              <a:defRPr/>
            </a:pPr>
            <a:r>
              <a:rPr lang="en-US" sz="1200" b="0" dirty="0" smtClean="0">
                <a:solidFill>
                  <a:srgbClr val="000000"/>
                </a:solidFill>
              </a:rPr>
              <a:t>ECUs</a:t>
            </a:r>
            <a:r>
              <a:rPr lang="en-US" sz="1200" b="0" dirty="0" smtClean="0">
                <a:solidFill>
                  <a:srgbClr val="000000"/>
                </a:solidFill>
              </a:rPr>
              <a:t>:	Supported: DC4, DC5, UPCR, </a:t>
            </a:r>
            <a:r>
              <a:rPr lang="en-US" sz="1200" b="0" dirty="0" err="1" smtClean="0">
                <a:solidFill>
                  <a:srgbClr val="000000"/>
                </a:solidFill>
              </a:rPr>
              <a:t>Lidec</a:t>
            </a:r>
            <a:r>
              <a:rPr lang="en-US" sz="1200" b="0" dirty="0" smtClean="0">
                <a:solidFill>
                  <a:srgbClr val="000000"/>
                </a:solidFill>
              </a:rPr>
              <a:t> 1, UEC3, Master 4</a:t>
            </a:r>
            <a:br>
              <a:rPr lang="en-US" sz="1200" b="0" dirty="0" smtClean="0">
                <a:solidFill>
                  <a:srgbClr val="000000"/>
                </a:solidFill>
              </a:rPr>
            </a:br>
            <a:r>
              <a:rPr lang="en-US" sz="1200" b="0" dirty="0" err="1" smtClean="0">
                <a:solidFill>
                  <a:srgbClr val="000000"/>
                </a:solidFill>
              </a:rPr>
              <a:t>Futur</a:t>
            </a:r>
            <a:r>
              <a:rPr lang="en-US" sz="1200" b="0" dirty="0" smtClean="0">
                <a:solidFill>
                  <a:srgbClr val="000000"/>
                </a:solidFill>
              </a:rPr>
              <a:t>: </a:t>
            </a:r>
            <a:r>
              <a:rPr lang="en-US" sz="1200" b="0" dirty="0" err="1" smtClean="0">
                <a:solidFill>
                  <a:srgbClr val="000000"/>
                </a:solidFill>
              </a:rPr>
              <a:t>Lidec</a:t>
            </a:r>
            <a:r>
              <a:rPr lang="en-US" sz="1200" b="0" dirty="0" smtClean="0">
                <a:solidFill>
                  <a:srgbClr val="000000"/>
                </a:solidFill>
              </a:rPr>
              <a:t> 2 &amp; Master 5</a:t>
            </a:r>
          </a:p>
          <a:p>
            <a:pPr marL="982663" indent="-982663">
              <a:buNone/>
              <a:defRPr/>
            </a:pPr>
            <a:endParaRPr lang="en-US" sz="1200" b="0" dirty="0" smtClean="0">
              <a:solidFill>
                <a:srgbClr val="FF0000"/>
              </a:solidFill>
            </a:endParaRPr>
          </a:p>
          <a:p>
            <a:pPr marL="982663" indent="-982663">
              <a:buNone/>
              <a:defRPr/>
            </a:pPr>
            <a:r>
              <a:rPr lang="en-US" sz="1200" b="0" dirty="0" smtClean="0">
                <a:solidFill>
                  <a:srgbClr val="000000"/>
                </a:solidFill>
              </a:rPr>
              <a:t>Volume</a:t>
            </a:r>
            <a:r>
              <a:rPr lang="en-US" sz="1200" b="0" dirty="0" smtClean="0">
                <a:solidFill>
                  <a:srgbClr val="000000"/>
                </a:solidFill>
              </a:rPr>
              <a:t>:	</a:t>
            </a:r>
            <a:r>
              <a:rPr lang="en-US" sz="1200" b="0" dirty="0" smtClean="0">
                <a:solidFill>
                  <a:srgbClr val="000000"/>
                </a:solidFill>
              </a:rPr>
              <a:t>2’500 users</a:t>
            </a:r>
            <a:endParaRPr lang="en-US" sz="1200" b="0" dirty="0" smtClean="0">
              <a:solidFill>
                <a:srgbClr val="000000"/>
              </a:solidFill>
            </a:endParaRPr>
          </a:p>
        </p:txBody>
      </p:sp>
      <p:sp>
        <p:nvSpPr>
          <p:cNvPr id="52" name="Abgerundetes Rechteck 51"/>
          <p:cNvSpPr/>
          <p:nvPr/>
        </p:nvSpPr>
        <p:spPr bwMode="auto">
          <a:xfrm>
            <a:off x="6029586" y="3172281"/>
            <a:ext cx="3557327" cy="2900715"/>
          </a:xfrm>
          <a:prstGeom prst="roundRect">
            <a:avLst>
              <a:gd name="adj" fmla="val 9948"/>
            </a:avLst>
          </a:prstGeom>
          <a:noFill/>
          <a:ln/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000" tIns="46800" rIns="90000" bIns="46800">
            <a:noAutofit/>
          </a:bodyPr>
          <a:lstStyle/>
          <a:p>
            <a:pPr>
              <a:buNone/>
              <a:defRPr/>
            </a:pPr>
            <a:r>
              <a:rPr lang="en-US" sz="1400" dirty="0" smtClean="0">
                <a:solidFill>
                  <a:srgbClr val="000000"/>
                </a:solidFill>
              </a:rPr>
              <a:t>Project Team</a:t>
            </a:r>
          </a:p>
          <a:p>
            <a:pPr marL="1527175" indent="-1527175">
              <a:buNone/>
              <a:defRPr/>
            </a:pPr>
            <a:r>
              <a:rPr lang="en-US" sz="1200" b="0" dirty="0" smtClean="0">
                <a:solidFill>
                  <a:srgbClr val="000000"/>
                </a:solidFill>
              </a:rPr>
              <a:t>Product Owner:</a:t>
            </a:r>
            <a:r>
              <a:rPr lang="en-US" sz="1200" b="0" dirty="0" smtClean="0">
                <a:solidFill>
                  <a:srgbClr val="000000"/>
                </a:solidFill>
              </a:rPr>
              <a:t>	</a:t>
            </a:r>
            <a:r>
              <a:rPr lang="en-US" sz="1200" b="0" dirty="0" smtClean="0">
                <a:solidFill>
                  <a:srgbClr val="000000"/>
                </a:solidFill>
              </a:rPr>
              <a:t>P. Terreaux</a:t>
            </a:r>
            <a:r>
              <a:rPr lang="en-US" sz="1200" b="0" dirty="0" smtClean="0">
                <a:solidFill>
                  <a:srgbClr val="000000"/>
                </a:solidFill>
              </a:rPr>
              <a:t>	AC3</a:t>
            </a:r>
            <a:endParaRPr lang="en-US" sz="1200" b="0" dirty="0" smtClean="0">
              <a:solidFill>
                <a:srgbClr val="FF0000"/>
              </a:solidFill>
            </a:endParaRPr>
          </a:p>
          <a:p>
            <a:pPr marL="1527175" indent="-1527175">
              <a:buNone/>
              <a:defRPr/>
            </a:pPr>
            <a:r>
              <a:rPr lang="en-US" sz="1200" b="0" dirty="0" smtClean="0">
                <a:solidFill>
                  <a:srgbClr val="000000"/>
                </a:solidFill>
              </a:rPr>
              <a:t>Scrum Master:</a:t>
            </a:r>
            <a:r>
              <a:rPr lang="en-US" sz="1200" b="0" dirty="0" smtClean="0">
                <a:solidFill>
                  <a:srgbClr val="000000"/>
                </a:solidFill>
              </a:rPr>
              <a:t>	</a:t>
            </a:r>
            <a:r>
              <a:rPr lang="en-US" sz="1200" b="0" dirty="0" smtClean="0">
                <a:solidFill>
                  <a:srgbClr val="000000"/>
                </a:solidFill>
              </a:rPr>
              <a:t>L. Lantier</a:t>
            </a:r>
            <a:r>
              <a:rPr lang="en-US" sz="1200" b="0" dirty="0" smtClean="0">
                <a:solidFill>
                  <a:srgbClr val="000000"/>
                </a:solidFill>
              </a:rPr>
              <a:t>	AC3</a:t>
            </a:r>
          </a:p>
          <a:p>
            <a:pPr marL="1527175" indent="-1527175">
              <a:buNone/>
              <a:defRPr/>
            </a:pPr>
            <a:r>
              <a:rPr lang="en-US" sz="1200" b="0" dirty="0" smtClean="0">
                <a:solidFill>
                  <a:srgbClr val="000000"/>
                </a:solidFill>
              </a:rPr>
              <a:t>Soft. Architect.:</a:t>
            </a:r>
            <a:r>
              <a:rPr lang="en-US" sz="1200" b="0" dirty="0" smtClean="0">
                <a:solidFill>
                  <a:srgbClr val="000000"/>
                </a:solidFill>
              </a:rPr>
              <a:t>	</a:t>
            </a:r>
            <a:r>
              <a:rPr lang="en-US" sz="1200" b="0" dirty="0" smtClean="0">
                <a:solidFill>
                  <a:srgbClr val="000000"/>
                </a:solidFill>
              </a:rPr>
              <a:t>F. Salvalai</a:t>
            </a:r>
            <a:r>
              <a:rPr lang="en-US" sz="1200" b="0" dirty="0">
                <a:solidFill>
                  <a:srgbClr val="000000"/>
                </a:solidFill>
              </a:rPr>
              <a:t>	</a:t>
            </a:r>
            <a:r>
              <a:rPr lang="en-US" sz="1200" b="0" dirty="0" smtClean="0">
                <a:solidFill>
                  <a:srgbClr val="000000"/>
                </a:solidFill>
              </a:rPr>
              <a:t>AC3</a:t>
            </a:r>
            <a:endParaRPr lang="en-US" sz="1200" b="0" dirty="0" smtClean="0">
              <a:solidFill>
                <a:srgbClr val="000000"/>
              </a:solidFill>
            </a:endParaRPr>
          </a:p>
          <a:p>
            <a:pPr marL="1527175" indent="-1527175">
              <a:buNone/>
              <a:defRPr/>
            </a:pPr>
            <a:r>
              <a:rPr lang="en-US" sz="1200" b="0" dirty="0" smtClean="0">
                <a:solidFill>
                  <a:srgbClr val="000000"/>
                </a:solidFill>
              </a:rPr>
              <a:t>Soft. Engineer:	</a:t>
            </a:r>
            <a:r>
              <a:rPr lang="en-US" sz="1200" b="0" dirty="0" smtClean="0">
                <a:solidFill>
                  <a:srgbClr val="000000"/>
                </a:solidFill>
              </a:rPr>
              <a:t>F. Bressoud</a:t>
            </a:r>
            <a:r>
              <a:rPr lang="en-US" sz="1200" b="0" dirty="0" smtClean="0">
                <a:solidFill>
                  <a:srgbClr val="000000"/>
                </a:solidFill>
              </a:rPr>
              <a:t>	AC3</a:t>
            </a:r>
          </a:p>
          <a:p>
            <a:pPr marL="1527175" indent="-1527175">
              <a:buNone/>
              <a:defRPr/>
            </a:pPr>
            <a:r>
              <a:rPr lang="en-US" sz="1200" b="0" dirty="0" smtClean="0">
                <a:solidFill>
                  <a:srgbClr val="000000"/>
                </a:solidFill>
              </a:rPr>
              <a:t>Soft. Engineer:</a:t>
            </a:r>
            <a:r>
              <a:rPr lang="en-US" sz="1200" b="0" dirty="0" smtClean="0">
                <a:solidFill>
                  <a:srgbClr val="000000"/>
                </a:solidFill>
              </a:rPr>
              <a:t>	</a:t>
            </a:r>
            <a:r>
              <a:rPr lang="en-US" sz="1200" b="0" dirty="0" smtClean="0">
                <a:solidFill>
                  <a:srgbClr val="000000"/>
                </a:solidFill>
              </a:rPr>
              <a:t>Y. Brulhart	AC3</a:t>
            </a:r>
            <a:endParaRPr lang="en-US" sz="1200" b="0" dirty="0" smtClean="0">
              <a:solidFill>
                <a:srgbClr val="000000"/>
              </a:solidFill>
            </a:endParaRPr>
          </a:p>
          <a:p>
            <a:pPr marL="1527175" indent="-1527175">
              <a:buNone/>
              <a:defRPr/>
            </a:pPr>
            <a:r>
              <a:rPr lang="en-US" sz="1200" b="0" dirty="0" smtClean="0">
                <a:solidFill>
                  <a:srgbClr val="000000"/>
                </a:solidFill>
              </a:rPr>
              <a:t>Soft. Engineer:</a:t>
            </a:r>
            <a:r>
              <a:rPr lang="en-US" sz="1200" b="0" dirty="0">
                <a:solidFill>
                  <a:srgbClr val="000000"/>
                </a:solidFill>
              </a:rPr>
              <a:t>	</a:t>
            </a:r>
            <a:r>
              <a:rPr lang="en-US" sz="1200" b="0" dirty="0" smtClean="0">
                <a:solidFill>
                  <a:srgbClr val="000000"/>
                </a:solidFill>
              </a:rPr>
              <a:t>O. Monney</a:t>
            </a:r>
            <a:r>
              <a:rPr lang="en-US" sz="1200" b="0" dirty="0">
                <a:solidFill>
                  <a:srgbClr val="000000"/>
                </a:solidFill>
              </a:rPr>
              <a:t>	</a:t>
            </a:r>
            <a:r>
              <a:rPr lang="en-US" sz="1200" b="0" dirty="0" smtClean="0">
                <a:solidFill>
                  <a:srgbClr val="000000"/>
                </a:solidFill>
              </a:rPr>
              <a:t>AC3</a:t>
            </a:r>
            <a:endParaRPr lang="en-US" sz="1200" b="0" dirty="0">
              <a:solidFill>
                <a:srgbClr val="000000"/>
              </a:solidFill>
            </a:endParaRPr>
          </a:p>
          <a:p>
            <a:pPr marL="1527175" indent="-1527175">
              <a:buNone/>
              <a:defRPr/>
            </a:pPr>
            <a:r>
              <a:rPr lang="en-US" sz="1200" b="0" dirty="0" smtClean="0">
                <a:solidFill>
                  <a:srgbClr val="000000"/>
                </a:solidFill>
              </a:rPr>
              <a:t>Soft. Engineer:</a:t>
            </a:r>
            <a:r>
              <a:rPr lang="en-US" sz="1200" b="0" dirty="0">
                <a:solidFill>
                  <a:srgbClr val="000000"/>
                </a:solidFill>
              </a:rPr>
              <a:t>	</a:t>
            </a:r>
            <a:r>
              <a:rPr lang="en-US" sz="1200" b="0" dirty="0" smtClean="0">
                <a:solidFill>
                  <a:srgbClr val="000000"/>
                </a:solidFill>
              </a:rPr>
              <a:t>P. Pombeiro</a:t>
            </a:r>
            <a:r>
              <a:rPr lang="en-US" sz="1200" b="0" dirty="0">
                <a:solidFill>
                  <a:srgbClr val="000000"/>
                </a:solidFill>
              </a:rPr>
              <a:t>	</a:t>
            </a:r>
            <a:r>
              <a:rPr lang="en-US" sz="1200" b="0" dirty="0" smtClean="0">
                <a:solidFill>
                  <a:srgbClr val="000000"/>
                </a:solidFill>
              </a:rPr>
              <a:t>AC3</a:t>
            </a:r>
          </a:p>
          <a:p>
            <a:pPr marL="1527175" indent="-1527175">
              <a:buNone/>
              <a:defRPr/>
            </a:pPr>
            <a:r>
              <a:rPr lang="en-US" sz="1200" b="0" dirty="0">
                <a:solidFill>
                  <a:srgbClr val="000000"/>
                </a:solidFill>
              </a:rPr>
              <a:t>Soft. Engineer:	</a:t>
            </a:r>
            <a:r>
              <a:rPr lang="en-US" sz="1200" b="0" dirty="0" smtClean="0">
                <a:solidFill>
                  <a:srgbClr val="000000"/>
                </a:solidFill>
              </a:rPr>
              <a:t>N. </a:t>
            </a:r>
            <a:r>
              <a:rPr lang="en-US" sz="1200" b="0" dirty="0" err="1" smtClean="0">
                <a:solidFill>
                  <a:srgbClr val="000000"/>
                </a:solidFill>
              </a:rPr>
              <a:t>Thal</a:t>
            </a:r>
            <a:r>
              <a:rPr lang="en-US" sz="1200" b="0" dirty="0">
                <a:solidFill>
                  <a:srgbClr val="000000"/>
                </a:solidFill>
              </a:rPr>
              <a:t>	</a:t>
            </a:r>
            <a:r>
              <a:rPr lang="en-US" sz="1200" b="0" dirty="0" smtClean="0">
                <a:solidFill>
                  <a:srgbClr val="000000"/>
                </a:solidFill>
              </a:rPr>
              <a:t>AC3</a:t>
            </a:r>
            <a:endParaRPr lang="en-US" sz="1200" b="0" dirty="0">
              <a:solidFill>
                <a:srgbClr val="000000"/>
              </a:solidFill>
            </a:endParaRPr>
          </a:p>
          <a:p>
            <a:pPr marL="1527175" indent="-1527175">
              <a:buNone/>
              <a:defRPr/>
            </a:pPr>
            <a:r>
              <a:rPr lang="en-US" sz="1200" b="0" dirty="0" smtClean="0">
                <a:solidFill>
                  <a:srgbClr val="000000"/>
                </a:solidFill>
              </a:rPr>
              <a:t>Tester:</a:t>
            </a:r>
            <a:r>
              <a:rPr lang="en-US" sz="1200" b="0" dirty="0">
                <a:solidFill>
                  <a:srgbClr val="000000"/>
                </a:solidFill>
              </a:rPr>
              <a:t>	</a:t>
            </a:r>
            <a:r>
              <a:rPr lang="en-US" sz="1200" b="0" dirty="0" smtClean="0">
                <a:solidFill>
                  <a:srgbClr val="000000"/>
                </a:solidFill>
              </a:rPr>
              <a:t>H. Turhal</a:t>
            </a:r>
            <a:r>
              <a:rPr lang="en-US" sz="1200" b="0" dirty="0">
                <a:solidFill>
                  <a:srgbClr val="000000"/>
                </a:solidFill>
              </a:rPr>
              <a:t>	</a:t>
            </a:r>
            <a:r>
              <a:rPr lang="en-US" sz="1200" b="0" dirty="0" smtClean="0">
                <a:solidFill>
                  <a:srgbClr val="000000"/>
                </a:solidFill>
              </a:rPr>
              <a:t>AC3</a:t>
            </a:r>
            <a:endParaRPr lang="en-US" sz="1200" b="0" dirty="0">
              <a:solidFill>
                <a:srgbClr val="000000"/>
              </a:solidFill>
            </a:endParaRPr>
          </a:p>
        </p:txBody>
      </p:sp>
      <p:pic>
        <p:nvPicPr>
          <p:cNvPr id="2" name="Picture 2" descr="https://www.liebherr.i/emt/ServiceAndDiagnostic/images1/hardha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0" y="1343450"/>
            <a:ext cx="1466850" cy="1466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22470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Status </a:t>
            </a:r>
            <a:r>
              <a:rPr lang="en-US" dirty="0" smtClean="0"/>
              <a:t>– Sculi (ITM)</a:t>
            </a:r>
            <a:endParaRPr lang="en-US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>
          <a:xfrm>
            <a:off x="344488" y="6357039"/>
            <a:ext cx="682625" cy="231775"/>
          </a:xfrm>
        </p:spPr>
        <p:txBody>
          <a:bodyPr/>
          <a:lstStyle/>
          <a:p>
            <a:pPr>
              <a:defRPr/>
            </a:pPr>
            <a:fld id="{882CAF51-027A-4829-9365-B8EBA961E5C1}" type="slidenum">
              <a:rPr lang="de-DE" smtClean="0"/>
              <a:pPr>
                <a:defRPr/>
              </a:pPr>
              <a:t>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LMB | AC3 | P. Terreaux | Project Status Sculi | 2012-05-14</a:t>
            </a:r>
            <a:endParaRPr lang="de-DE" dirty="0"/>
          </a:p>
        </p:txBody>
      </p:sp>
      <p:sp>
        <p:nvSpPr>
          <p:cNvPr id="7" name="Abgerundetes Rechteck 6"/>
          <p:cNvSpPr/>
          <p:nvPr/>
        </p:nvSpPr>
        <p:spPr bwMode="auto">
          <a:xfrm>
            <a:off x="434945" y="1159368"/>
            <a:ext cx="4361342" cy="2248065"/>
          </a:xfrm>
          <a:prstGeom prst="roundRect">
            <a:avLst>
              <a:gd name="adj" fmla="val 9948"/>
            </a:avLst>
          </a:prstGeom>
          <a:ln/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90000" tIns="46800" rIns="90000" bIns="46800">
            <a:noAutofit/>
          </a:bodyPr>
          <a:lstStyle/>
          <a:p>
            <a:pPr>
              <a:buNone/>
              <a:defRPr/>
            </a:pPr>
            <a:r>
              <a:rPr lang="en-US" dirty="0" smtClean="0">
                <a:solidFill>
                  <a:srgbClr val="000000"/>
                </a:solidFill>
              </a:rPr>
              <a:t>Scope</a:t>
            </a:r>
          </a:p>
          <a:p>
            <a:pPr marL="342900" indent="-342900">
              <a:defRPr/>
            </a:pPr>
            <a:r>
              <a:rPr lang="en-US" sz="1200" b="0" dirty="0" smtClean="0"/>
              <a:t>Diagnostic Tool for Liebherr Machines and Engines</a:t>
            </a:r>
          </a:p>
          <a:p>
            <a:pPr marL="342900" indent="-342900">
              <a:defRPr/>
            </a:pPr>
            <a:endParaRPr lang="en-US" sz="1200" b="0" dirty="0" smtClean="0"/>
          </a:p>
          <a:p>
            <a:pPr marL="342900" indent="-342900">
              <a:defRPr/>
            </a:pPr>
            <a:endParaRPr lang="en-US" sz="1200" b="0" dirty="0" smtClean="0"/>
          </a:p>
          <a:p>
            <a:pPr marL="342900" indent="-342900">
              <a:defRPr/>
            </a:pPr>
            <a:endParaRPr lang="en-US" sz="1800" b="0" dirty="0">
              <a:solidFill>
                <a:srgbClr val="FF0000"/>
              </a:solidFill>
            </a:endParaRPr>
          </a:p>
        </p:txBody>
      </p:sp>
      <p:sp>
        <p:nvSpPr>
          <p:cNvPr id="9" name="Abgerundetes Rechteck 8"/>
          <p:cNvSpPr/>
          <p:nvPr/>
        </p:nvSpPr>
        <p:spPr bwMode="auto">
          <a:xfrm>
            <a:off x="5038575" y="1171424"/>
            <a:ext cx="4361342" cy="2248065"/>
          </a:xfrm>
          <a:prstGeom prst="roundRect">
            <a:avLst>
              <a:gd name="adj" fmla="val 9948"/>
            </a:avLst>
          </a:prstGeom>
          <a:ln/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90000" tIns="46800" rIns="90000" bIns="46800">
            <a:noAutofit/>
          </a:bodyPr>
          <a:lstStyle/>
          <a:p>
            <a:pPr>
              <a:buNone/>
              <a:defRPr/>
            </a:pPr>
            <a:r>
              <a:rPr lang="en-US" dirty="0" smtClean="0">
                <a:solidFill>
                  <a:srgbClr val="000000"/>
                </a:solidFill>
              </a:rPr>
              <a:t>CTQ’s</a:t>
            </a:r>
            <a:endParaRPr lang="en-US" dirty="0">
              <a:solidFill>
                <a:srgbClr val="000000"/>
              </a:solidFill>
            </a:endParaRPr>
          </a:p>
          <a:p>
            <a:pPr marL="342900" indent="-342900">
              <a:defRPr/>
            </a:pPr>
            <a:r>
              <a:rPr lang="en-US" sz="1200" b="0" dirty="0" smtClean="0"/>
              <a:t>Performance:	connection establishment time</a:t>
            </a:r>
          </a:p>
          <a:p>
            <a:pPr marL="342900" indent="-342900">
              <a:defRPr/>
            </a:pPr>
            <a:r>
              <a:rPr lang="en-US" sz="1200" b="0" dirty="0" smtClean="0"/>
              <a:t>Stability:	</a:t>
            </a:r>
            <a:r>
              <a:rPr lang="en-US" sz="1200" b="0" i="1" dirty="0" err="1" smtClean="0"/>
              <a:t>ctrl+alt+del</a:t>
            </a:r>
            <a:r>
              <a:rPr lang="en-US" sz="1200" b="0" dirty="0" smtClean="0"/>
              <a:t> is forbidden</a:t>
            </a:r>
            <a:endParaRPr lang="en-US" sz="1200" b="0" dirty="0"/>
          </a:p>
          <a:p>
            <a:pPr marL="342900" indent="-342900">
              <a:defRPr/>
            </a:pPr>
            <a:r>
              <a:rPr lang="en-US" sz="1200" b="0" dirty="0" smtClean="0"/>
              <a:t>Intuitive: 	not an engineer tool</a:t>
            </a:r>
          </a:p>
          <a:p>
            <a:pPr marL="342900" indent="-342900">
              <a:defRPr/>
            </a:pPr>
            <a:endParaRPr lang="en-US" sz="1200" b="0" dirty="0" smtClean="0"/>
          </a:p>
          <a:p>
            <a:pPr marL="342900" indent="-342900">
              <a:defRPr/>
            </a:pPr>
            <a:endParaRPr lang="en-US" sz="1200" b="0" dirty="0"/>
          </a:p>
          <a:p>
            <a:pPr>
              <a:buNone/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1" name="Abgerundetes Rechteck 10"/>
          <p:cNvSpPr/>
          <p:nvPr/>
        </p:nvSpPr>
        <p:spPr bwMode="auto">
          <a:xfrm>
            <a:off x="434945" y="3629397"/>
            <a:ext cx="4361342" cy="2248065"/>
          </a:xfrm>
          <a:prstGeom prst="roundRect">
            <a:avLst>
              <a:gd name="adj" fmla="val 9948"/>
            </a:avLst>
          </a:prstGeom>
          <a:ln/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90000" tIns="46800" rIns="90000" bIns="46800">
            <a:noAutofit/>
          </a:bodyPr>
          <a:lstStyle/>
          <a:p>
            <a:pPr>
              <a:buNone/>
              <a:defRPr/>
            </a:pPr>
            <a:r>
              <a:rPr lang="en-US" dirty="0" smtClean="0">
                <a:solidFill>
                  <a:srgbClr val="000000"/>
                </a:solidFill>
              </a:rPr>
              <a:t>Risks</a:t>
            </a:r>
            <a:endParaRPr lang="en-US" dirty="0">
              <a:solidFill>
                <a:srgbClr val="000000"/>
              </a:solidFill>
            </a:endParaRPr>
          </a:p>
          <a:p>
            <a:pPr marL="342900" indent="-342900">
              <a:defRPr/>
            </a:pPr>
            <a:r>
              <a:rPr lang="en-US" sz="1200" b="0" dirty="0" smtClean="0"/>
              <a:t>Sculi 1 is developed in Delphi</a:t>
            </a:r>
          </a:p>
          <a:p>
            <a:pPr marL="800100" lvl="1" indent="-342900">
              <a:defRPr/>
            </a:pPr>
            <a:r>
              <a:rPr lang="en-US" sz="1200" b="0" dirty="0" smtClean="0"/>
              <a:t>Maintenance on Windows 7 is hard</a:t>
            </a:r>
          </a:p>
          <a:p>
            <a:pPr marL="800100" lvl="1" indent="-342900">
              <a:defRPr/>
            </a:pPr>
            <a:r>
              <a:rPr lang="en-US" sz="1200" b="0" dirty="0" smtClean="0"/>
              <a:t>Hard to find </a:t>
            </a:r>
            <a:r>
              <a:rPr lang="en-US" sz="1200" b="0" smtClean="0"/>
              <a:t>qualified persons </a:t>
            </a:r>
            <a:r>
              <a:rPr lang="en-US" sz="1200" b="0" dirty="0" smtClean="0"/>
              <a:t>with Delphi know-how</a:t>
            </a:r>
            <a:endParaRPr lang="en-US" sz="1200" b="0" dirty="0"/>
          </a:p>
          <a:p>
            <a:pPr marL="342900" indent="-342900">
              <a:defRPr/>
            </a:pPr>
            <a:r>
              <a:rPr lang="en-US" sz="1200" b="0" dirty="0" smtClean="0"/>
              <a:t>Sculi 2 </a:t>
            </a:r>
            <a:r>
              <a:rPr lang="en-US" sz="1200" b="0" dirty="0" smtClean="0"/>
              <a:t>(light) must be ready for march 2013</a:t>
            </a:r>
            <a:endParaRPr lang="en-US" sz="1600" b="0" dirty="0"/>
          </a:p>
          <a:p>
            <a:pPr>
              <a:buNone/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2" name="Abgerundetes Rechteck 11"/>
          <p:cNvSpPr/>
          <p:nvPr/>
        </p:nvSpPr>
        <p:spPr bwMode="auto">
          <a:xfrm>
            <a:off x="5038575" y="3641453"/>
            <a:ext cx="4361342" cy="2248065"/>
          </a:xfrm>
          <a:prstGeom prst="roundRect">
            <a:avLst>
              <a:gd name="adj" fmla="val 9948"/>
            </a:avLst>
          </a:prstGeom>
          <a:ln/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90000" tIns="46800" rIns="90000" bIns="46800">
            <a:noAutofit/>
          </a:bodyPr>
          <a:lstStyle/>
          <a:p>
            <a:pPr>
              <a:buNone/>
              <a:defRPr/>
            </a:pPr>
            <a:r>
              <a:rPr lang="en-US" dirty="0" smtClean="0">
                <a:solidFill>
                  <a:srgbClr val="000000"/>
                </a:solidFill>
              </a:rPr>
              <a:t>Changes</a:t>
            </a:r>
            <a:endParaRPr lang="en-US" dirty="0">
              <a:solidFill>
                <a:srgbClr val="000000"/>
              </a:solidFill>
            </a:endParaRPr>
          </a:p>
          <a:p>
            <a:pPr marL="342900" indent="-342900">
              <a:defRPr/>
            </a:pPr>
            <a:r>
              <a:rPr lang="en-US" sz="1200" b="0" dirty="0" smtClean="0"/>
              <a:t>Sculi 2 for </a:t>
            </a:r>
            <a:r>
              <a:rPr lang="en-US" sz="1200" b="0" dirty="0" err="1" smtClean="0"/>
              <a:t>Lidec</a:t>
            </a:r>
            <a:r>
              <a:rPr lang="en-US" sz="1200" b="0" dirty="0" smtClean="0"/>
              <a:t> 2</a:t>
            </a:r>
            <a:endParaRPr lang="en-US" sz="1200" b="0" dirty="0"/>
          </a:p>
          <a:p>
            <a:pPr marL="342900" indent="-342900">
              <a:defRPr/>
            </a:pPr>
            <a:endParaRPr lang="en-US" sz="1200" b="0" dirty="0"/>
          </a:p>
          <a:p>
            <a:pPr>
              <a:buNone/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140956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F8B06F-D12B-430D-A0DF-A778C68544A7}" type="slidenum">
              <a:rPr lang="de-DE" smtClean="0"/>
              <a:pPr>
                <a:defRPr/>
              </a:pPr>
              <a:t>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LMB | AC3 | P. Terreaux | Project Status Sculi | 2012-05-14</a:t>
            </a:r>
            <a:endParaRPr lang="de-DE" dirty="0"/>
          </a:p>
        </p:txBody>
      </p:sp>
      <p:sp>
        <p:nvSpPr>
          <p:cNvPr id="6148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Status </a:t>
            </a:r>
            <a:r>
              <a:rPr lang="en-US" dirty="0" smtClean="0"/>
              <a:t>– Sculi (ITM)</a:t>
            </a:r>
            <a:endParaRPr lang="en-US" dirty="0" smtClean="0"/>
          </a:p>
        </p:txBody>
      </p:sp>
      <p:graphicFrame>
        <p:nvGraphicFramePr>
          <p:cNvPr id="6" name="Group 1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763767"/>
              </p:ext>
            </p:extLst>
          </p:nvPr>
        </p:nvGraphicFramePr>
        <p:xfrm>
          <a:off x="450850" y="1014413"/>
          <a:ext cx="9072563" cy="2355852"/>
        </p:xfrm>
        <a:graphic>
          <a:graphicData uri="http://schemas.openxmlformats.org/drawingml/2006/table">
            <a:tbl>
              <a:tblPr/>
              <a:tblGrid>
                <a:gridCol w="300848"/>
                <a:gridCol w="5684705"/>
                <a:gridCol w="1134966"/>
                <a:gridCol w="976022"/>
                <a:gridCol w="976022"/>
              </a:tblGrid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 Major open issues</a:t>
                      </a:r>
                      <a:endParaRPr kumimoji="0" lang="en-GB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Who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Due Date</a:t>
                      </a:r>
                      <a:endParaRPr kumimoji="0" lang="en-GB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Status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Define exact brake pressure via vehicle test @ LWE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Scharpf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cw17, 2012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planned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Commitment from PPT needed to meet max. temp of 100°C for engine coolant.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Gerber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cw19, 2012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planned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Chase K&amp;S to freeze B-sample design. No 3d models received yet.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Thomas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cw18, 2012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overdue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4.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Define Turbo Charger for D934 (end cw18) to freeze interface for flap.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Auffret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cw18, 2012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overdue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5.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Close commercial discussion on prototype / series pricing / NRE costs with PPT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Bacza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cw19, 2012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planned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Group 1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581959"/>
              </p:ext>
            </p:extLst>
          </p:nvPr>
        </p:nvGraphicFramePr>
        <p:xfrm>
          <a:off x="450850" y="3800181"/>
          <a:ext cx="9072564" cy="1622426"/>
        </p:xfrm>
        <a:graphic>
          <a:graphicData uri="http://schemas.openxmlformats.org/drawingml/2006/table">
            <a:tbl>
              <a:tblPr/>
              <a:tblGrid>
                <a:gridCol w="300847"/>
                <a:gridCol w="5693272"/>
                <a:gridCol w="1126401"/>
                <a:gridCol w="976022"/>
                <a:gridCol w="976022"/>
              </a:tblGrid>
              <a:tr h="38576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 Decision need</a:t>
                      </a:r>
                      <a:endParaRPr kumimoji="0" lang="en-GB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Who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Due Date</a:t>
                      </a:r>
                      <a:endParaRPr kumimoji="0" lang="en-GB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Status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Escalate resource problem @ K&amp;S. Milestones for LMB projects are all overdue.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Schindler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cw19, 2012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planned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How to proceed with 90mm flap since turbo of D934 is not defined (interface is not fix).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Petutschnig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cw19, 2012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planned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2386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Volume split for B-samples to be decided. 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>
                          <a:tab pos="92075" algn="l"/>
                        </a:tabLst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Glauser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cw19, 2012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planned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pSp>
        <p:nvGrpSpPr>
          <p:cNvPr id="3" name="Gruppieren 2"/>
          <p:cNvGrpSpPr/>
          <p:nvPr/>
        </p:nvGrpSpPr>
        <p:grpSpPr>
          <a:xfrm>
            <a:off x="385328" y="5673321"/>
            <a:ext cx="1917945" cy="390832"/>
            <a:chOff x="497466" y="5673321"/>
            <a:chExt cx="1917945" cy="390832"/>
          </a:xfrm>
        </p:grpSpPr>
        <p:sp>
          <p:nvSpPr>
            <p:cNvPr id="8" name="Textfeld 7"/>
            <p:cNvSpPr txBox="1"/>
            <p:nvPr/>
          </p:nvSpPr>
          <p:spPr>
            <a:xfrm>
              <a:off x="1190452" y="5848709"/>
              <a:ext cx="603849" cy="215444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buNone/>
              </a:pPr>
              <a:r>
                <a:rPr lang="en-US" sz="800" dirty="0" smtClean="0"/>
                <a:t>planned</a:t>
              </a:r>
              <a:endParaRPr lang="en-US" sz="800" dirty="0"/>
            </a:p>
          </p:txBody>
        </p:sp>
        <p:sp>
          <p:nvSpPr>
            <p:cNvPr id="9" name="Textfeld 8"/>
            <p:cNvSpPr txBox="1"/>
            <p:nvPr/>
          </p:nvSpPr>
          <p:spPr>
            <a:xfrm>
              <a:off x="1811562" y="5848709"/>
              <a:ext cx="603849" cy="215444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buNone/>
              </a:pPr>
              <a:r>
                <a:rPr lang="en-US" sz="800" dirty="0" smtClean="0"/>
                <a:t>overdue</a:t>
              </a:r>
              <a:endParaRPr lang="en-US" sz="800" dirty="0"/>
            </a:p>
          </p:txBody>
        </p:sp>
        <p:sp>
          <p:nvSpPr>
            <p:cNvPr id="10" name="Textfeld 9"/>
            <p:cNvSpPr txBox="1"/>
            <p:nvPr/>
          </p:nvSpPr>
          <p:spPr>
            <a:xfrm>
              <a:off x="569342" y="5848709"/>
              <a:ext cx="603849" cy="21544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buNone/>
              </a:pPr>
              <a:r>
                <a:rPr lang="en-US" sz="800" dirty="0" smtClean="0"/>
                <a:t>done</a:t>
              </a:r>
              <a:endParaRPr lang="en-US" sz="800" dirty="0"/>
            </a:p>
          </p:txBody>
        </p:sp>
        <p:sp>
          <p:nvSpPr>
            <p:cNvPr id="11" name="Textfeld 10"/>
            <p:cNvSpPr txBox="1"/>
            <p:nvPr/>
          </p:nvSpPr>
          <p:spPr>
            <a:xfrm>
              <a:off x="497466" y="5673321"/>
              <a:ext cx="855449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>
                <a:buNone/>
              </a:pPr>
              <a:r>
                <a:rPr lang="en-US" sz="800" dirty="0" smtClean="0"/>
                <a:t>Color Code:</a:t>
              </a:r>
              <a:endParaRPr lang="en-US" sz="800" dirty="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3369E8-1CB5-47AB-AE28-9E7967C8B2BB}" type="slidenum">
              <a:rPr lang="de-DE"/>
              <a:pPr>
                <a:defRPr/>
              </a:pPr>
              <a:t>4</a:t>
            </a:fld>
            <a:endParaRPr lang="de-DE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LMB | AC3 | P. Terreaux | Project Status Sculi | 2012-05-14</a:t>
            </a:r>
            <a:endParaRPr lang="de-DE" dirty="0"/>
          </a:p>
        </p:txBody>
      </p:sp>
      <p:sp>
        <p:nvSpPr>
          <p:cNvPr id="7172" name="Titel 1"/>
          <p:cNvSpPr>
            <a:spLocks noGrp="1"/>
          </p:cNvSpPr>
          <p:nvPr>
            <p:ph type="title"/>
          </p:nvPr>
        </p:nvSpPr>
        <p:spPr>
          <a:xfrm>
            <a:off x="412750" y="361950"/>
            <a:ext cx="8659813" cy="374650"/>
          </a:xfrm>
        </p:spPr>
        <p:txBody>
          <a:bodyPr/>
          <a:lstStyle/>
          <a:p>
            <a:r>
              <a:rPr lang="en-US" dirty="0"/>
              <a:t>Project Status </a:t>
            </a:r>
            <a:r>
              <a:rPr lang="en-US" dirty="0" smtClean="0"/>
              <a:t>– Sculi (ITM)</a:t>
            </a:r>
            <a:endParaRPr lang="en-US" dirty="0" smtClean="0"/>
          </a:p>
        </p:txBody>
      </p:sp>
      <p:graphicFrame>
        <p:nvGraphicFramePr>
          <p:cNvPr id="6" name="Tabel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7996668"/>
              </p:ext>
            </p:extLst>
          </p:nvPr>
        </p:nvGraphicFramePr>
        <p:xfrm>
          <a:off x="405130" y="1600200"/>
          <a:ext cx="9031470" cy="4379976"/>
        </p:xfrm>
        <a:graphic>
          <a:graphicData uri="http://schemas.openxmlformats.org/drawingml/2006/table">
            <a:tbl>
              <a:tblPr/>
              <a:tblGrid>
                <a:gridCol w="602098"/>
                <a:gridCol w="602098"/>
                <a:gridCol w="602098"/>
                <a:gridCol w="602098"/>
                <a:gridCol w="602098"/>
                <a:gridCol w="602098"/>
                <a:gridCol w="602098"/>
                <a:gridCol w="602098"/>
                <a:gridCol w="602098"/>
                <a:gridCol w="602098"/>
                <a:gridCol w="602098"/>
                <a:gridCol w="602098"/>
                <a:gridCol w="602098"/>
                <a:gridCol w="602098"/>
                <a:gridCol w="602098"/>
              </a:tblGrid>
              <a:tr h="43799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el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850167"/>
              </p:ext>
            </p:extLst>
          </p:nvPr>
        </p:nvGraphicFramePr>
        <p:xfrm>
          <a:off x="407410" y="994664"/>
          <a:ext cx="9035760" cy="61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384"/>
                <a:gridCol w="602384"/>
                <a:gridCol w="602384"/>
                <a:gridCol w="602384"/>
                <a:gridCol w="602384"/>
                <a:gridCol w="602384"/>
                <a:gridCol w="602384"/>
                <a:gridCol w="602384"/>
                <a:gridCol w="602384"/>
                <a:gridCol w="602384"/>
                <a:gridCol w="602384"/>
                <a:gridCol w="602384"/>
                <a:gridCol w="602384"/>
                <a:gridCol w="602384"/>
                <a:gridCol w="602384"/>
              </a:tblGrid>
              <a:tr h="370840">
                <a:tc gridSpan="10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2012</a:t>
                      </a:r>
                      <a:endParaRPr lang="en-US" dirty="0"/>
                    </a:p>
                  </a:txBody>
                  <a:tcPr>
                    <a:solidFill>
                      <a:srgbClr val="3366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2013</a:t>
                      </a:r>
                      <a:endParaRPr lang="en-US" dirty="0"/>
                    </a:p>
                  </a:txBody>
                  <a:tcPr>
                    <a:solidFill>
                      <a:srgbClr val="3366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3366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336699"/>
                    </a:solidFill>
                  </a:tcPr>
                </a:tc>
              </a:tr>
              <a:tr h="239438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03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04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03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04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2" name="Abgerundetes Rechteck 21"/>
          <p:cNvSpPr/>
          <p:nvPr/>
        </p:nvSpPr>
        <p:spPr bwMode="auto">
          <a:xfrm>
            <a:off x="4610735" y="4568138"/>
            <a:ext cx="1539899" cy="375799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US" sz="800" dirty="0" smtClean="0"/>
              <a:t>C-samples</a:t>
            </a:r>
          </a:p>
          <a:p>
            <a:pPr marL="171450" indent="-171450">
              <a:spcAft>
                <a:spcPts val="0"/>
              </a:spcAft>
              <a:buClrTx/>
            </a:pPr>
            <a:r>
              <a:rPr lang="en-US" sz="800" b="0" dirty="0" smtClean="0"/>
              <a:t>PPT or K&amp;S ?</a:t>
            </a:r>
          </a:p>
        </p:txBody>
      </p:sp>
      <p:sp>
        <p:nvSpPr>
          <p:cNvPr id="27" name="Abgerundetes Rechteck 26"/>
          <p:cNvSpPr/>
          <p:nvPr/>
        </p:nvSpPr>
        <p:spPr bwMode="auto">
          <a:xfrm>
            <a:off x="6512943" y="4838024"/>
            <a:ext cx="1912677" cy="469983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US" sz="800" dirty="0" smtClean="0"/>
              <a:t>C-sample Validation</a:t>
            </a:r>
          </a:p>
          <a:p>
            <a:pPr marL="171450" indent="-171450">
              <a:spcAft>
                <a:spcPts val="0"/>
              </a:spcAft>
              <a:buClrTx/>
            </a:pPr>
            <a:r>
              <a:rPr lang="en-US" sz="800" b="0" dirty="0" smtClean="0"/>
              <a:t>@ Supplier</a:t>
            </a:r>
          </a:p>
          <a:p>
            <a:pPr marL="171450" indent="-171450">
              <a:spcAft>
                <a:spcPts val="0"/>
              </a:spcAft>
              <a:buClrTx/>
            </a:pPr>
            <a:r>
              <a:rPr lang="en-US" sz="800" b="0" dirty="0" smtClean="0"/>
              <a:t>@ LMB</a:t>
            </a:r>
          </a:p>
        </p:txBody>
      </p:sp>
      <p:grpSp>
        <p:nvGrpSpPr>
          <p:cNvPr id="3" name="Gruppieren 2"/>
          <p:cNvGrpSpPr/>
          <p:nvPr/>
        </p:nvGrpSpPr>
        <p:grpSpPr>
          <a:xfrm>
            <a:off x="9166404" y="4682327"/>
            <a:ext cx="516499" cy="451105"/>
            <a:chOff x="9166404" y="3655833"/>
            <a:chExt cx="516499" cy="451105"/>
          </a:xfrm>
        </p:grpSpPr>
        <p:sp>
          <p:nvSpPr>
            <p:cNvPr id="19" name="Raute 18"/>
            <p:cNvSpPr/>
            <p:nvPr/>
          </p:nvSpPr>
          <p:spPr bwMode="auto">
            <a:xfrm>
              <a:off x="9324070" y="3860991"/>
              <a:ext cx="201168" cy="245947"/>
            </a:xfrm>
            <a:prstGeom prst="diamond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265113" marR="0" indent="-26511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40000"/>
                </a:spcAft>
                <a:buClr>
                  <a:schemeClr val="accent1"/>
                </a:buClr>
                <a:buSzTx/>
                <a:buFont typeface="Wingdings" pitchFamily="2" charset="2"/>
                <a:buChar char="n"/>
                <a:tabLst/>
              </a:pPr>
              <a:endParaRPr kumimoji="0" lang="en-US" sz="2200" b="1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2" name="Textfeld 1"/>
            <p:cNvSpPr txBox="1"/>
            <p:nvPr/>
          </p:nvSpPr>
          <p:spPr>
            <a:xfrm>
              <a:off x="9166404" y="3655833"/>
              <a:ext cx="51649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None/>
              </a:pPr>
              <a:r>
                <a:rPr lang="en-US" sz="1100" dirty="0" smtClean="0"/>
                <a:t>SOP</a:t>
              </a:r>
              <a:endParaRPr lang="en-US" sz="1100" dirty="0"/>
            </a:p>
          </p:txBody>
        </p:sp>
      </p:grpSp>
      <p:grpSp>
        <p:nvGrpSpPr>
          <p:cNvPr id="7168" name="Gruppieren 7167"/>
          <p:cNvGrpSpPr/>
          <p:nvPr/>
        </p:nvGrpSpPr>
        <p:grpSpPr>
          <a:xfrm>
            <a:off x="1534941" y="1325581"/>
            <a:ext cx="276045" cy="4618019"/>
            <a:chOff x="956999" y="1325581"/>
            <a:chExt cx="276045" cy="4618019"/>
          </a:xfrm>
        </p:grpSpPr>
        <p:cxnSp>
          <p:nvCxnSpPr>
            <p:cNvPr id="9" name="Gerade Verbindung 8"/>
            <p:cNvCxnSpPr>
              <a:stCxn id="15" idx="0"/>
            </p:cNvCxnSpPr>
            <p:nvPr/>
          </p:nvCxnSpPr>
          <p:spPr bwMode="auto">
            <a:xfrm>
              <a:off x="1095021" y="1515362"/>
              <a:ext cx="14224" cy="4428238"/>
            </a:xfrm>
            <a:prstGeom prst="line">
              <a:avLst/>
            </a:prstGeom>
            <a:noFill/>
            <a:ln w="28575" cap="flat" cmpd="sng" algn="ctr">
              <a:solidFill>
                <a:srgbClr val="336699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80808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5" name="Gleichschenkliges Dreieck 14"/>
            <p:cNvSpPr/>
            <p:nvPr/>
          </p:nvSpPr>
          <p:spPr bwMode="auto">
            <a:xfrm rot="10800000">
              <a:off x="956999" y="1325581"/>
              <a:ext cx="276045" cy="189781"/>
            </a:xfrm>
            <a:prstGeom prst="triangle">
              <a:avLst/>
            </a:prstGeom>
            <a:solidFill>
              <a:srgbClr val="336699"/>
            </a:solidFill>
            <a:ln>
              <a:noFill/>
            </a:ln>
            <a:effectLst/>
            <a:ex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265113" marR="0" indent="-26511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40000"/>
                </a:spcAft>
                <a:buClr>
                  <a:schemeClr val="accent1"/>
                </a:buClr>
                <a:buSzTx/>
                <a:buFont typeface="Wingdings" pitchFamily="2" charset="2"/>
                <a:buChar char="n"/>
                <a:tabLst/>
              </a:pPr>
              <a:endParaRPr kumimoji="0" lang="en-US" sz="2200" b="1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cs typeface="Arial" charset="0"/>
              </a:endParaRPr>
            </a:p>
          </p:txBody>
        </p:sp>
      </p:grpSp>
      <p:sp>
        <p:nvSpPr>
          <p:cNvPr id="7170" name="Richtungspfeil 7169"/>
          <p:cNvSpPr/>
          <p:nvPr/>
        </p:nvSpPr>
        <p:spPr bwMode="auto">
          <a:xfrm>
            <a:off x="4035173" y="1717299"/>
            <a:ext cx="1177529" cy="432773"/>
          </a:xfrm>
          <a:prstGeom prst="homePlate">
            <a:avLst/>
          </a:prstGeom>
          <a:solidFill>
            <a:srgbClr val="FF0000"/>
          </a:solidFill>
          <a:ln>
            <a:noFill/>
          </a:ln>
          <a:effectLst/>
          <a:ex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SzTx/>
              <a:buNone/>
              <a:tabLst/>
            </a:pP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Fiel</a:t>
            </a:r>
            <a:r>
              <a:rPr lang="en-US" sz="800" dirty="0" smtClean="0"/>
              <a:t>d Tests</a:t>
            </a:r>
          </a:p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SzTx/>
              <a:buNone/>
              <a:tabLst/>
            </a:pPr>
            <a:r>
              <a:rPr kumimoji="0" lang="en-US" sz="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Preparation</a:t>
            </a:r>
          </a:p>
        </p:txBody>
      </p:sp>
      <p:sp>
        <p:nvSpPr>
          <p:cNvPr id="44" name="Richtungspfeil 43"/>
          <p:cNvSpPr/>
          <p:nvPr/>
        </p:nvSpPr>
        <p:spPr bwMode="auto">
          <a:xfrm>
            <a:off x="6419467" y="1715826"/>
            <a:ext cx="1177529" cy="432773"/>
          </a:xfrm>
          <a:prstGeom prst="homePlate">
            <a:avLst/>
          </a:prstGeom>
          <a:solidFill>
            <a:srgbClr val="92D050"/>
          </a:solidFill>
          <a:ln>
            <a:solidFill>
              <a:srgbClr val="92D050"/>
            </a:solidFill>
          </a:ln>
          <a:effectLst/>
          <a:ex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SzTx/>
              <a:buNone/>
              <a:tabLst/>
            </a:pPr>
            <a:r>
              <a:rPr lang="en-US" sz="800" dirty="0" smtClean="0"/>
              <a:t>D-samples</a:t>
            </a:r>
          </a:p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SzTx/>
              <a:buNone/>
              <a:tabLst/>
            </a:pP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Tier 4f Motors</a:t>
            </a:r>
          </a:p>
        </p:txBody>
      </p:sp>
      <p:sp>
        <p:nvSpPr>
          <p:cNvPr id="45" name="Abgerundetes Rechteck 44"/>
          <p:cNvSpPr/>
          <p:nvPr/>
        </p:nvSpPr>
        <p:spPr bwMode="auto">
          <a:xfrm>
            <a:off x="127775" y="1698015"/>
            <a:ext cx="1560879" cy="444880"/>
          </a:xfrm>
          <a:prstGeom prst="roundRect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SzTx/>
              <a:buNone/>
              <a:tabLst/>
            </a:pPr>
            <a:r>
              <a:rPr lang="en-US" sz="800" dirty="0" smtClean="0"/>
              <a:t>Design Freeze</a:t>
            </a:r>
          </a:p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SzTx/>
              <a:buNone/>
              <a:tabLst/>
            </a:pPr>
            <a:r>
              <a:rPr lang="en-US" sz="800" b="0" dirty="0" smtClean="0"/>
              <a:t>C-samples Motor</a:t>
            </a:r>
          </a:p>
        </p:txBody>
      </p:sp>
      <p:cxnSp>
        <p:nvCxnSpPr>
          <p:cNvPr id="49" name="Gerade Verbindung 48"/>
          <p:cNvCxnSpPr/>
          <p:nvPr/>
        </p:nvCxnSpPr>
        <p:spPr bwMode="auto">
          <a:xfrm>
            <a:off x="1732926" y="1515870"/>
            <a:ext cx="0" cy="4419108"/>
          </a:xfrm>
          <a:prstGeom prst="line">
            <a:avLst/>
          </a:prstGeom>
          <a:noFill/>
          <a:ln w="28575" cap="flat" cmpd="sng" algn="ctr">
            <a:solidFill>
              <a:srgbClr val="92D05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808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6" name="Gruppieren 45"/>
          <p:cNvGrpSpPr/>
          <p:nvPr/>
        </p:nvGrpSpPr>
        <p:grpSpPr>
          <a:xfrm>
            <a:off x="1623716" y="1665714"/>
            <a:ext cx="647613" cy="381689"/>
            <a:chOff x="1008661" y="1683505"/>
            <a:chExt cx="647613" cy="381689"/>
          </a:xfrm>
        </p:grpSpPr>
        <p:sp>
          <p:nvSpPr>
            <p:cNvPr id="47" name="Raute 46"/>
            <p:cNvSpPr/>
            <p:nvPr/>
          </p:nvSpPr>
          <p:spPr bwMode="auto">
            <a:xfrm>
              <a:off x="1008661" y="1819247"/>
              <a:ext cx="201168" cy="245947"/>
            </a:xfrm>
            <a:prstGeom prst="diamond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265113" marR="0" indent="-26511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40000"/>
                </a:spcAft>
                <a:buClr>
                  <a:schemeClr val="accent1"/>
                </a:buClr>
                <a:buSzTx/>
                <a:buFont typeface="Wingdings" pitchFamily="2" charset="2"/>
                <a:buChar char="n"/>
                <a:tabLst/>
              </a:pPr>
              <a:endParaRPr kumimoji="0" lang="en-US" sz="2200" b="1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48" name="Textfeld 47"/>
            <p:cNvSpPr txBox="1"/>
            <p:nvPr/>
          </p:nvSpPr>
          <p:spPr>
            <a:xfrm>
              <a:off x="1073599" y="1683505"/>
              <a:ext cx="58267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None/>
              </a:pPr>
              <a:r>
                <a:rPr lang="en-US" sz="1100" dirty="0" smtClean="0"/>
                <a:t>cw19</a:t>
              </a:r>
              <a:endParaRPr lang="en-US" sz="1100" dirty="0"/>
            </a:p>
          </p:txBody>
        </p:sp>
      </p:grpSp>
      <p:sp>
        <p:nvSpPr>
          <p:cNvPr id="14" name="Abgerundetes Rechteck 13"/>
          <p:cNvSpPr/>
          <p:nvPr/>
        </p:nvSpPr>
        <p:spPr bwMode="auto">
          <a:xfrm>
            <a:off x="1836659" y="3322933"/>
            <a:ext cx="1570768" cy="483606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US" sz="800" dirty="0" smtClean="0"/>
              <a:t>B-samples (110mm / D9x6)</a:t>
            </a:r>
          </a:p>
          <a:p>
            <a:pPr marL="171450" indent="-171450">
              <a:spcAft>
                <a:spcPts val="0"/>
              </a:spcAft>
              <a:buClrTx/>
            </a:pPr>
            <a:r>
              <a:rPr lang="en-US" sz="800" b="0" dirty="0" smtClean="0"/>
              <a:t>PPT</a:t>
            </a:r>
          </a:p>
          <a:p>
            <a:pPr marL="171450" indent="-171450">
              <a:spcAft>
                <a:spcPts val="0"/>
              </a:spcAft>
              <a:buClrTx/>
            </a:pPr>
            <a:r>
              <a:rPr lang="en-US" sz="800" b="0" dirty="0" smtClean="0"/>
              <a:t>K&amp;S / </a:t>
            </a:r>
            <a:r>
              <a:rPr lang="en-US" sz="800" b="0" dirty="0" err="1" smtClean="0"/>
              <a:t>Sonceboz</a:t>
            </a:r>
            <a:endParaRPr lang="en-US" sz="800" b="0" dirty="0" smtClean="0"/>
          </a:p>
        </p:txBody>
      </p:sp>
      <p:grpSp>
        <p:nvGrpSpPr>
          <p:cNvPr id="8" name="Gruppieren 7"/>
          <p:cNvGrpSpPr/>
          <p:nvPr/>
        </p:nvGrpSpPr>
        <p:grpSpPr>
          <a:xfrm>
            <a:off x="3315469" y="3401552"/>
            <a:ext cx="674633" cy="376752"/>
            <a:chOff x="3160201" y="2116278"/>
            <a:chExt cx="674633" cy="376752"/>
          </a:xfrm>
        </p:grpSpPr>
        <p:sp>
          <p:nvSpPr>
            <p:cNvPr id="20" name="Raute 19"/>
            <p:cNvSpPr/>
            <p:nvPr/>
          </p:nvSpPr>
          <p:spPr bwMode="auto">
            <a:xfrm>
              <a:off x="3160201" y="2247083"/>
              <a:ext cx="201168" cy="245947"/>
            </a:xfrm>
            <a:prstGeom prst="diamond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265113" marR="0" indent="-26511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40000"/>
                </a:spcAft>
                <a:buClr>
                  <a:schemeClr val="accent1"/>
                </a:buClr>
                <a:buSzTx/>
                <a:buFont typeface="Wingdings" pitchFamily="2" charset="2"/>
                <a:buChar char="n"/>
                <a:tabLst/>
              </a:pPr>
              <a:endParaRPr kumimoji="0" lang="en-US" sz="2200" b="1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30" name="Textfeld 29"/>
            <p:cNvSpPr txBox="1"/>
            <p:nvPr/>
          </p:nvSpPr>
          <p:spPr>
            <a:xfrm>
              <a:off x="3252159" y="2116278"/>
              <a:ext cx="58267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None/>
              </a:pPr>
              <a:r>
                <a:rPr lang="en-US" sz="1100" dirty="0" smtClean="0"/>
                <a:t>cw30</a:t>
              </a:r>
              <a:endParaRPr lang="en-US" sz="1100" dirty="0"/>
            </a:p>
          </p:txBody>
        </p:sp>
      </p:grpSp>
      <p:sp>
        <p:nvSpPr>
          <p:cNvPr id="12" name="Abgerundetes Rechteck 11"/>
          <p:cNvSpPr/>
          <p:nvPr/>
        </p:nvSpPr>
        <p:spPr bwMode="auto">
          <a:xfrm>
            <a:off x="127775" y="2461617"/>
            <a:ext cx="1566896" cy="345413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US" sz="800" dirty="0" smtClean="0"/>
              <a:t>Design Freeze</a:t>
            </a:r>
          </a:p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US" sz="800" b="0" dirty="0" smtClean="0"/>
              <a:t>B-sample  PPT </a:t>
            </a:r>
          </a:p>
        </p:txBody>
      </p:sp>
      <p:grpSp>
        <p:nvGrpSpPr>
          <p:cNvPr id="7169" name="Gruppieren 7168"/>
          <p:cNvGrpSpPr/>
          <p:nvPr/>
        </p:nvGrpSpPr>
        <p:grpSpPr>
          <a:xfrm>
            <a:off x="1629733" y="2425341"/>
            <a:ext cx="647613" cy="381689"/>
            <a:chOff x="1008661" y="1683505"/>
            <a:chExt cx="647613" cy="381689"/>
          </a:xfrm>
        </p:grpSpPr>
        <p:sp>
          <p:nvSpPr>
            <p:cNvPr id="13" name="Raute 12"/>
            <p:cNvSpPr/>
            <p:nvPr/>
          </p:nvSpPr>
          <p:spPr bwMode="auto">
            <a:xfrm>
              <a:off x="1008661" y="1819247"/>
              <a:ext cx="201168" cy="245947"/>
            </a:xfrm>
            <a:prstGeom prst="diamond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265113" marR="0" indent="-26511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40000"/>
                </a:spcAft>
                <a:buClr>
                  <a:schemeClr val="accent1"/>
                </a:buClr>
                <a:buSzTx/>
                <a:buFont typeface="Wingdings" pitchFamily="2" charset="2"/>
                <a:buChar char="n"/>
                <a:tabLst/>
              </a:pPr>
              <a:endParaRPr kumimoji="0" lang="en-US" sz="2200" b="1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29" name="Textfeld 28"/>
            <p:cNvSpPr txBox="1"/>
            <p:nvPr/>
          </p:nvSpPr>
          <p:spPr>
            <a:xfrm>
              <a:off x="1073599" y="1683505"/>
              <a:ext cx="58267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None/>
              </a:pPr>
              <a:r>
                <a:rPr lang="en-US" sz="1100" dirty="0" smtClean="0"/>
                <a:t>cw19</a:t>
              </a:r>
              <a:endParaRPr lang="en-US" sz="1100" dirty="0"/>
            </a:p>
          </p:txBody>
        </p:sp>
      </p:grpSp>
      <p:cxnSp>
        <p:nvCxnSpPr>
          <p:cNvPr id="52" name="Gerade Verbindung 51"/>
          <p:cNvCxnSpPr/>
          <p:nvPr/>
        </p:nvCxnSpPr>
        <p:spPr bwMode="auto">
          <a:xfrm>
            <a:off x="4007322" y="1521628"/>
            <a:ext cx="0" cy="4419108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808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3" name="Gruppieren 52"/>
          <p:cNvGrpSpPr/>
          <p:nvPr/>
        </p:nvGrpSpPr>
        <p:grpSpPr>
          <a:xfrm>
            <a:off x="6047646" y="4511373"/>
            <a:ext cx="674633" cy="376752"/>
            <a:chOff x="3160201" y="2116278"/>
            <a:chExt cx="674633" cy="376752"/>
          </a:xfrm>
        </p:grpSpPr>
        <p:sp>
          <p:nvSpPr>
            <p:cNvPr id="54" name="Raute 53"/>
            <p:cNvSpPr/>
            <p:nvPr/>
          </p:nvSpPr>
          <p:spPr bwMode="auto">
            <a:xfrm>
              <a:off x="3160201" y="2247083"/>
              <a:ext cx="201168" cy="245947"/>
            </a:xfrm>
            <a:prstGeom prst="diamond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265113" marR="0" indent="-26511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40000"/>
                </a:spcAft>
                <a:buClr>
                  <a:schemeClr val="accent1"/>
                </a:buClr>
                <a:buSzTx/>
                <a:buFont typeface="Wingdings" pitchFamily="2" charset="2"/>
                <a:buChar char="n"/>
                <a:tabLst/>
              </a:pPr>
              <a:endParaRPr kumimoji="0" lang="en-US" sz="2200" b="1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55" name="Textfeld 54"/>
            <p:cNvSpPr txBox="1"/>
            <p:nvPr/>
          </p:nvSpPr>
          <p:spPr>
            <a:xfrm>
              <a:off x="3252159" y="2116278"/>
              <a:ext cx="58267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None/>
              </a:pPr>
              <a:r>
                <a:rPr lang="en-US" sz="1100" dirty="0" smtClean="0"/>
                <a:t>cw48</a:t>
              </a:r>
              <a:endParaRPr lang="en-US" sz="1100" dirty="0"/>
            </a:p>
          </p:txBody>
        </p:sp>
      </p:grpSp>
      <p:grpSp>
        <p:nvGrpSpPr>
          <p:cNvPr id="56" name="Gruppieren 55"/>
          <p:cNvGrpSpPr/>
          <p:nvPr/>
        </p:nvGrpSpPr>
        <p:grpSpPr>
          <a:xfrm>
            <a:off x="8339397" y="4819117"/>
            <a:ext cx="674633" cy="376752"/>
            <a:chOff x="3160201" y="2116278"/>
            <a:chExt cx="674633" cy="376752"/>
          </a:xfrm>
        </p:grpSpPr>
        <p:sp>
          <p:nvSpPr>
            <p:cNvPr id="57" name="Raute 56"/>
            <p:cNvSpPr/>
            <p:nvPr/>
          </p:nvSpPr>
          <p:spPr bwMode="auto">
            <a:xfrm>
              <a:off x="3160201" y="2247083"/>
              <a:ext cx="201168" cy="245947"/>
            </a:xfrm>
            <a:prstGeom prst="diamond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265113" marR="0" indent="-26511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40000"/>
                </a:spcAft>
                <a:buClr>
                  <a:schemeClr val="accent1"/>
                </a:buClr>
                <a:buSzTx/>
                <a:buFont typeface="Wingdings" pitchFamily="2" charset="2"/>
                <a:buChar char="n"/>
                <a:tabLst/>
              </a:pPr>
              <a:endParaRPr kumimoji="0" lang="en-US" sz="2200" b="1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58" name="Textfeld 57"/>
            <p:cNvSpPr txBox="1"/>
            <p:nvPr/>
          </p:nvSpPr>
          <p:spPr>
            <a:xfrm>
              <a:off x="3252159" y="2116278"/>
              <a:ext cx="58267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None/>
              </a:pPr>
              <a:r>
                <a:rPr lang="en-US" sz="1100" dirty="0" smtClean="0"/>
                <a:t>cw15</a:t>
              </a:r>
              <a:endParaRPr lang="en-US" sz="1100" dirty="0"/>
            </a:p>
          </p:txBody>
        </p:sp>
      </p:grpSp>
      <p:sp>
        <p:nvSpPr>
          <p:cNvPr id="62" name="Abgerundetes Rechteck 61"/>
          <p:cNvSpPr/>
          <p:nvPr/>
        </p:nvSpPr>
        <p:spPr bwMode="auto">
          <a:xfrm>
            <a:off x="8196159" y="5642757"/>
            <a:ext cx="588764" cy="227687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SzTx/>
              <a:buNone/>
              <a:tabLst/>
            </a:pPr>
            <a:r>
              <a:rPr lang="en-US" sz="800" dirty="0" smtClean="0"/>
              <a:t>PPAP</a:t>
            </a:r>
            <a:endParaRPr lang="en-US" sz="800" b="0" dirty="0" smtClean="0"/>
          </a:p>
        </p:txBody>
      </p:sp>
      <p:grpSp>
        <p:nvGrpSpPr>
          <p:cNvPr id="59" name="Gruppieren 58"/>
          <p:cNvGrpSpPr/>
          <p:nvPr/>
        </p:nvGrpSpPr>
        <p:grpSpPr>
          <a:xfrm>
            <a:off x="8692965" y="5502823"/>
            <a:ext cx="674633" cy="376752"/>
            <a:chOff x="3160201" y="2116278"/>
            <a:chExt cx="674633" cy="376752"/>
          </a:xfrm>
        </p:grpSpPr>
        <p:sp>
          <p:nvSpPr>
            <p:cNvPr id="60" name="Raute 59"/>
            <p:cNvSpPr/>
            <p:nvPr/>
          </p:nvSpPr>
          <p:spPr bwMode="auto">
            <a:xfrm>
              <a:off x="3160201" y="2247083"/>
              <a:ext cx="201168" cy="245947"/>
            </a:xfrm>
            <a:prstGeom prst="diamond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265113" marR="0" indent="-26511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40000"/>
                </a:spcAft>
                <a:buClr>
                  <a:schemeClr val="accent1"/>
                </a:buClr>
                <a:buSzTx/>
                <a:buFont typeface="Wingdings" pitchFamily="2" charset="2"/>
                <a:buChar char="n"/>
                <a:tabLst/>
              </a:pPr>
              <a:endParaRPr kumimoji="0" lang="en-US" sz="2200" b="1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61" name="Textfeld 60"/>
            <p:cNvSpPr txBox="1"/>
            <p:nvPr/>
          </p:nvSpPr>
          <p:spPr>
            <a:xfrm>
              <a:off x="3252159" y="2116278"/>
              <a:ext cx="58267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None/>
              </a:pPr>
              <a:r>
                <a:rPr lang="en-US" sz="1100" dirty="0" smtClean="0"/>
                <a:t>cw17</a:t>
              </a:r>
              <a:endParaRPr lang="en-US" sz="1100" dirty="0"/>
            </a:p>
          </p:txBody>
        </p:sp>
      </p:grpSp>
      <p:sp>
        <p:nvSpPr>
          <p:cNvPr id="21" name="Abgerundetes Rechteck 20"/>
          <p:cNvSpPr/>
          <p:nvPr/>
        </p:nvSpPr>
        <p:spPr bwMode="auto">
          <a:xfrm>
            <a:off x="3516637" y="3806538"/>
            <a:ext cx="1696065" cy="463060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US" sz="800" dirty="0" smtClean="0"/>
              <a:t>B-sample Validation</a:t>
            </a:r>
          </a:p>
          <a:p>
            <a:pPr marL="171450" indent="-171450">
              <a:spcAft>
                <a:spcPts val="0"/>
              </a:spcAft>
              <a:buClrTx/>
            </a:pPr>
            <a:r>
              <a:rPr lang="en-US" sz="800" b="0" dirty="0" smtClean="0"/>
              <a:t>@ Supplier</a:t>
            </a:r>
          </a:p>
          <a:p>
            <a:pPr marL="171450" indent="-171450">
              <a:spcAft>
                <a:spcPts val="0"/>
              </a:spcAft>
              <a:buClrTx/>
            </a:pPr>
            <a:r>
              <a:rPr lang="en-US" sz="800" b="0" dirty="0" smtClean="0"/>
              <a:t>@ LMB</a:t>
            </a:r>
          </a:p>
        </p:txBody>
      </p:sp>
      <p:grpSp>
        <p:nvGrpSpPr>
          <p:cNvPr id="31" name="Gruppieren 30"/>
          <p:cNvGrpSpPr/>
          <p:nvPr/>
        </p:nvGrpSpPr>
        <p:grpSpPr>
          <a:xfrm>
            <a:off x="5144676" y="3772081"/>
            <a:ext cx="674633" cy="376752"/>
            <a:chOff x="3160201" y="2116278"/>
            <a:chExt cx="674633" cy="376752"/>
          </a:xfrm>
        </p:grpSpPr>
        <p:sp>
          <p:nvSpPr>
            <p:cNvPr id="32" name="Raute 31"/>
            <p:cNvSpPr/>
            <p:nvPr/>
          </p:nvSpPr>
          <p:spPr bwMode="auto">
            <a:xfrm>
              <a:off x="3160201" y="2247083"/>
              <a:ext cx="201168" cy="245947"/>
            </a:xfrm>
            <a:prstGeom prst="diamond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265113" marR="0" indent="-26511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40000"/>
                </a:spcAft>
                <a:buClr>
                  <a:schemeClr val="accent1"/>
                </a:buClr>
                <a:buSzTx/>
                <a:buFont typeface="Wingdings" pitchFamily="2" charset="2"/>
                <a:buChar char="n"/>
                <a:tabLst/>
              </a:pPr>
              <a:endParaRPr kumimoji="0" lang="en-US" sz="2200" b="1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33" name="Textfeld 32"/>
            <p:cNvSpPr txBox="1"/>
            <p:nvPr/>
          </p:nvSpPr>
          <p:spPr>
            <a:xfrm>
              <a:off x="3252159" y="2116278"/>
              <a:ext cx="58267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None/>
              </a:pPr>
              <a:r>
                <a:rPr lang="en-US" sz="1100" dirty="0" smtClean="0"/>
                <a:t>cw44</a:t>
              </a:r>
              <a:endParaRPr lang="en-US" sz="1100" dirty="0"/>
            </a:p>
          </p:txBody>
        </p:sp>
      </p:grpSp>
      <p:sp>
        <p:nvSpPr>
          <p:cNvPr id="51" name="Abgerundetes Rechteck 50"/>
          <p:cNvSpPr/>
          <p:nvPr/>
        </p:nvSpPr>
        <p:spPr bwMode="auto">
          <a:xfrm>
            <a:off x="127775" y="2836354"/>
            <a:ext cx="1566896" cy="347622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US" sz="800" dirty="0" smtClean="0"/>
              <a:t>Design Freeze</a:t>
            </a:r>
          </a:p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US" sz="800" b="0" dirty="0" smtClean="0"/>
              <a:t>B-sample  K&amp;S</a:t>
            </a:r>
          </a:p>
        </p:txBody>
      </p:sp>
      <p:grpSp>
        <p:nvGrpSpPr>
          <p:cNvPr id="63" name="Gruppieren 62"/>
          <p:cNvGrpSpPr/>
          <p:nvPr/>
        </p:nvGrpSpPr>
        <p:grpSpPr>
          <a:xfrm>
            <a:off x="1635491" y="2758887"/>
            <a:ext cx="647613" cy="381689"/>
            <a:chOff x="1008661" y="1683505"/>
            <a:chExt cx="647613" cy="381689"/>
          </a:xfrm>
        </p:grpSpPr>
        <p:sp>
          <p:nvSpPr>
            <p:cNvPr id="64" name="Raute 63"/>
            <p:cNvSpPr/>
            <p:nvPr/>
          </p:nvSpPr>
          <p:spPr bwMode="auto">
            <a:xfrm>
              <a:off x="1008661" y="1819247"/>
              <a:ext cx="201168" cy="245947"/>
            </a:xfrm>
            <a:prstGeom prst="diamond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265113" marR="0" indent="-26511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40000"/>
                </a:spcAft>
                <a:buClr>
                  <a:schemeClr val="accent1"/>
                </a:buClr>
                <a:buSzTx/>
                <a:buFont typeface="Wingdings" pitchFamily="2" charset="2"/>
                <a:buChar char="n"/>
                <a:tabLst/>
              </a:pPr>
              <a:endParaRPr kumimoji="0" lang="en-US" sz="2200" b="1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65" name="Textfeld 64"/>
            <p:cNvSpPr txBox="1"/>
            <p:nvPr/>
          </p:nvSpPr>
          <p:spPr>
            <a:xfrm>
              <a:off x="1073599" y="1683505"/>
              <a:ext cx="58267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None/>
              </a:pPr>
              <a:r>
                <a:rPr lang="en-US" sz="1100" dirty="0" smtClean="0"/>
                <a:t>cw19</a:t>
              </a:r>
              <a:endParaRPr lang="en-US" sz="1100" dirty="0"/>
            </a:p>
          </p:txBody>
        </p:sp>
      </p:grpSp>
      <p:sp>
        <p:nvSpPr>
          <p:cNvPr id="66" name="Abgerundetes Rechteck 65"/>
          <p:cNvSpPr/>
          <p:nvPr/>
        </p:nvSpPr>
        <p:spPr bwMode="auto">
          <a:xfrm>
            <a:off x="1845285" y="3881079"/>
            <a:ext cx="1570768" cy="458014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US" sz="800" dirty="0" smtClean="0"/>
              <a:t>B-samples (</a:t>
            </a:r>
            <a:r>
              <a:rPr lang="en-US" sz="800" dirty="0"/>
              <a:t>9</a:t>
            </a:r>
            <a:r>
              <a:rPr lang="en-US" sz="800" dirty="0" smtClean="0"/>
              <a:t>0mm / D9508)</a:t>
            </a:r>
          </a:p>
          <a:p>
            <a:pPr marL="171450" indent="-171450">
              <a:spcAft>
                <a:spcPts val="0"/>
              </a:spcAft>
              <a:buClrTx/>
            </a:pPr>
            <a:r>
              <a:rPr lang="en-US" sz="800" b="0" dirty="0" smtClean="0"/>
              <a:t>PPT</a:t>
            </a:r>
          </a:p>
          <a:p>
            <a:pPr marL="171450" indent="-171450">
              <a:spcAft>
                <a:spcPts val="0"/>
              </a:spcAft>
              <a:buClrTx/>
            </a:pPr>
            <a:r>
              <a:rPr lang="en-US" sz="800" b="0" dirty="0" smtClean="0"/>
              <a:t>K&amp;S / </a:t>
            </a:r>
            <a:r>
              <a:rPr lang="en-US" sz="800" b="0" dirty="0" err="1" smtClean="0"/>
              <a:t>Sonceboz</a:t>
            </a:r>
            <a:endParaRPr lang="en-US" sz="800" b="0" dirty="0" smtClean="0"/>
          </a:p>
        </p:txBody>
      </p:sp>
      <p:sp>
        <p:nvSpPr>
          <p:cNvPr id="67" name="Abgerundetes Rechteck 66"/>
          <p:cNvSpPr/>
          <p:nvPr/>
        </p:nvSpPr>
        <p:spPr bwMode="auto">
          <a:xfrm>
            <a:off x="1858619" y="4416723"/>
            <a:ext cx="1570768" cy="334802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US" sz="800" dirty="0" smtClean="0"/>
              <a:t>B-samples (</a:t>
            </a:r>
            <a:r>
              <a:rPr lang="en-US" sz="800" dirty="0"/>
              <a:t>9</a:t>
            </a:r>
            <a:r>
              <a:rPr lang="en-US" sz="800" dirty="0" smtClean="0"/>
              <a:t>0mm / D9x4)</a:t>
            </a:r>
          </a:p>
          <a:p>
            <a:pPr marL="171450" indent="-171450">
              <a:spcAft>
                <a:spcPts val="0"/>
              </a:spcAft>
              <a:buClrTx/>
            </a:pPr>
            <a:r>
              <a:rPr lang="en-US" sz="800" b="0" dirty="0" smtClean="0"/>
              <a:t>PPT</a:t>
            </a:r>
          </a:p>
        </p:txBody>
      </p:sp>
      <p:grpSp>
        <p:nvGrpSpPr>
          <p:cNvPr id="11" name="Gruppieren 10"/>
          <p:cNvGrpSpPr/>
          <p:nvPr/>
        </p:nvGrpSpPr>
        <p:grpSpPr>
          <a:xfrm>
            <a:off x="586596" y="3286410"/>
            <a:ext cx="1302262" cy="507831"/>
            <a:chOff x="586596" y="3286410"/>
            <a:chExt cx="1302262" cy="507831"/>
          </a:xfrm>
        </p:grpSpPr>
        <p:sp>
          <p:nvSpPr>
            <p:cNvPr id="73" name="Raute 72"/>
            <p:cNvSpPr/>
            <p:nvPr/>
          </p:nvSpPr>
          <p:spPr bwMode="auto">
            <a:xfrm>
              <a:off x="1687690" y="3286410"/>
              <a:ext cx="201168" cy="245947"/>
            </a:xfrm>
            <a:prstGeom prst="diamond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265113" marR="0" indent="-26511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40000"/>
                </a:spcAft>
                <a:buClr>
                  <a:schemeClr val="accent1"/>
                </a:buClr>
                <a:buSzTx/>
                <a:buFont typeface="Wingdings" pitchFamily="2" charset="2"/>
                <a:buChar char="n"/>
                <a:tabLst/>
              </a:pPr>
              <a:endParaRPr kumimoji="0" lang="en-US" sz="2200" b="1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74" name="Textfeld 73"/>
            <p:cNvSpPr txBox="1"/>
            <p:nvPr/>
          </p:nvSpPr>
          <p:spPr>
            <a:xfrm>
              <a:off x="586596" y="3286410"/>
              <a:ext cx="1149479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spcAft>
                  <a:spcPts val="0"/>
                </a:spcAft>
                <a:buNone/>
              </a:pPr>
              <a:r>
                <a:rPr lang="en-US" sz="1100" dirty="0" smtClean="0"/>
                <a:t>cw20</a:t>
              </a:r>
            </a:p>
            <a:p>
              <a:pPr algn="r">
                <a:spcAft>
                  <a:spcPts val="0"/>
                </a:spcAft>
                <a:buNone/>
              </a:pPr>
              <a:r>
                <a:rPr lang="en-US" sz="800" dirty="0" smtClean="0"/>
                <a:t>Commercial discussion done </a:t>
              </a:r>
              <a:endParaRPr lang="en-US" sz="800" dirty="0"/>
            </a:p>
          </p:txBody>
        </p:sp>
      </p:grpSp>
      <p:grpSp>
        <p:nvGrpSpPr>
          <p:cNvPr id="10" name="Gruppieren 9"/>
          <p:cNvGrpSpPr/>
          <p:nvPr/>
        </p:nvGrpSpPr>
        <p:grpSpPr>
          <a:xfrm>
            <a:off x="4894892" y="2457256"/>
            <a:ext cx="1280782" cy="384721"/>
            <a:chOff x="5476001" y="2359060"/>
            <a:chExt cx="1280782" cy="384721"/>
          </a:xfrm>
        </p:grpSpPr>
        <p:sp>
          <p:nvSpPr>
            <p:cNvPr id="76" name="Raute 75"/>
            <p:cNvSpPr/>
            <p:nvPr/>
          </p:nvSpPr>
          <p:spPr bwMode="auto">
            <a:xfrm>
              <a:off x="5476001" y="2438109"/>
              <a:ext cx="201168" cy="245947"/>
            </a:xfrm>
            <a:prstGeom prst="diamond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265113" marR="0" indent="-26511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40000"/>
                </a:spcAft>
                <a:buClr>
                  <a:schemeClr val="accent1"/>
                </a:buClr>
                <a:buSzTx/>
                <a:buFont typeface="Wingdings" pitchFamily="2" charset="2"/>
                <a:buChar char="n"/>
                <a:tabLst/>
              </a:pPr>
              <a:endParaRPr kumimoji="0" lang="en-US" sz="2200" b="1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77" name="Textfeld 76"/>
            <p:cNvSpPr txBox="1"/>
            <p:nvPr/>
          </p:nvSpPr>
          <p:spPr>
            <a:xfrm>
              <a:off x="5602463" y="2359060"/>
              <a:ext cx="1154320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0"/>
                </a:spcAft>
                <a:buNone/>
              </a:pPr>
              <a:r>
                <a:rPr lang="en-US" sz="1100" dirty="0" smtClean="0"/>
                <a:t>cw42</a:t>
              </a:r>
            </a:p>
            <a:p>
              <a:pPr>
                <a:spcAft>
                  <a:spcPts val="0"/>
                </a:spcAft>
                <a:buNone/>
              </a:pPr>
              <a:r>
                <a:rPr lang="en-US" sz="800" dirty="0" smtClean="0"/>
                <a:t>FTG LH80 (D946)</a:t>
              </a:r>
              <a:endParaRPr lang="en-US" sz="800" dirty="0"/>
            </a:p>
          </p:txBody>
        </p:sp>
      </p:grpSp>
      <p:grpSp>
        <p:nvGrpSpPr>
          <p:cNvPr id="78" name="Gruppieren 77"/>
          <p:cNvGrpSpPr/>
          <p:nvPr/>
        </p:nvGrpSpPr>
        <p:grpSpPr>
          <a:xfrm>
            <a:off x="5154435" y="2783420"/>
            <a:ext cx="1280782" cy="384721"/>
            <a:chOff x="5476001" y="2359060"/>
            <a:chExt cx="1280782" cy="384721"/>
          </a:xfrm>
        </p:grpSpPr>
        <p:sp>
          <p:nvSpPr>
            <p:cNvPr id="79" name="Raute 78"/>
            <p:cNvSpPr/>
            <p:nvPr/>
          </p:nvSpPr>
          <p:spPr bwMode="auto">
            <a:xfrm>
              <a:off x="5476001" y="2438109"/>
              <a:ext cx="201168" cy="245947"/>
            </a:xfrm>
            <a:prstGeom prst="diamond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265113" marR="0" indent="-26511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40000"/>
                </a:spcAft>
                <a:buClr>
                  <a:schemeClr val="accent1"/>
                </a:buClr>
                <a:buSzTx/>
                <a:buFont typeface="Wingdings" pitchFamily="2" charset="2"/>
                <a:buChar char="n"/>
                <a:tabLst/>
              </a:pPr>
              <a:endParaRPr kumimoji="0" lang="en-US" sz="2200" b="1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80" name="Textfeld 79"/>
            <p:cNvSpPr txBox="1"/>
            <p:nvPr/>
          </p:nvSpPr>
          <p:spPr>
            <a:xfrm>
              <a:off x="5602463" y="2359060"/>
              <a:ext cx="1154320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0"/>
                </a:spcAft>
                <a:buNone/>
              </a:pPr>
              <a:r>
                <a:rPr lang="en-US" sz="1100" dirty="0" smtClean="0"/>
                <a:t>cw44</a:t>
              </a:r>
            </a:p>
            <a:p>
              <a:pPr>
                <a:spcAft>
                  <a:spcPts val="0"/>
                </a:spcAft>
                <a:buNone/>
              </a:pPr>
              <a:r>
                <a:rPr lang="en-US" sz="800" dirty="0" smtClean="0"/>
                <a:t>FTG L576 (D944)</a:t>
              </a:r>
              <a:endParaRPr lang="en-US" sz="800" dirty="0"/>
            </a:p>
          </p:txBody>
        </p:sp>
      </p:grpSp>
      <p:grpSp>
        <p:nvGrpSpPr>
          <p:cNvPr id="81" name="Gruppieren 80"/>
          <p:cNvGrpSpPr/>
          <p:nvPr/>
        </p:nvGrpSpPr>
        <p:grpSpPr>
          <a:xfrm>
            <a:off x="4166265" y="2136526"/>
            <a:ext cx="1280782" cy="384721"/>
            <a:chOff x="5476001" y="2359060"/>
            <a:chExt cx="1280782" cy="384721"/>
          </a:xfrm>
        </p:grpSpPr>
        <p:sp>
          <p:nvSpPr>
            <p:cNvPr id="82" name="Raute 81"/>
            <p:cNvSpPr/>
            <p:nvPr/>
          </p:nvSpPr>
          <p:spPr bwMode="auto">
            <a:xfrm>
              <a:off x="5476001" y="2438109"/>
              <a:ext cx="201168" cy="245947"/>
            </a:xfrm>
            <a:prstGeom prst="diamond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265113" marR="0" indent="-26511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40000"/>
                </a:spcAft>
                <a:buClr>
                  <a:schemeClr val="accent1"/>
                </a:buClr>
                <a:buSzTx/>
                <a:buFont typeface="Wingdings" pitchFamily="2" charset="2"/>
                <a:buChar char="n"/>
                <a:tabLst/>
              </a:pPr>
              <a:endParaRPr kumimoji="0" lang="en-US" sz="2200" b="1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83" name="Textfeld 82"/>
            <p:cNvSpPr txBox="1"/>
            <p:nvPr/>
          </p:nvSpPr>
          <p:spPr>
            <a:xfrm>
              <a:off x="5602463" y="2359060"/>
              <a:ext cx="1154320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0"/>
                </a:spcAft>
                <a:buNone/>
              </a:pPr>
              <a:r>
                <a:rPr lang="en-US" sz="1100" dirty="0" smtClean="0"/>
                <a:t>cw36</a:t>
              </a:r>
            </a:p>
            <a:p>
              <a:pPr>
                <a:spcAft>
                  <a:spcPts val="0"/>
                </a:spcAft>
                <a:buNone/>
              </a:pPr>
              <a:r>
                <a:rPr lang="en-US" sz="800" dirty="0" smtClean="0"/>
                <a:t>FTG ZG1362 (D944)</a:t>
              </a:r>
              <a:endParaRPr lang="en-US" sz="800" dirty="0"/>
            </a:p>
          </p:txBody>
        </p:sp>
      </p:grpSp>
      <p:grpSp>
        <p:nvGrpSpPr>
          <p:cNvPr id="84" name="Gruppieren 83"/>
          <p:cNvGrpSpPr/>
          <p:nvPr/>
        </p:nvGrpSpPr>
        <p:grpSpPr>
          <a:xfrm>
            <a:off x="3115522" y="5134926"/>
            <a:ext cx="1302262" cy="507831"/>
            <a:chOff x="586596" y="3286410"/>
            <a:chExt cx="1302262" cy="507831"/>
          </a:xfrm>
        </p:grpSpPr>
        <p:sp>
          <p:nvSpPr>
            <p:cNvPr id="85" name="Raute 84"/>
            <p:cNvSpPr/>
            <p:nvPr/>
          </p:nvSpPr>
          <p:spPr bwMode="auto">
            <a:xfrm>
              <a:off x="1687690" y="3286410"/>
              <a:ext cx="201168" cy="245947"/>
            </a:xfrm>
            <a:prstGeom prst="diamond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265113" marR="0" indent="-26511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40000"/>
                </a:spcAft>
                <a:buClr>
                  <a:schemeClr val="accent1"/>
                </a:buClr>
                <a:buSzTx/>
                <a:buFont typeface="Wingdings" pitchFamily="2" charset="2"/>
                <a:buChar char="n"/>
                <a:tabLst/>
              </a:pPr>
              <a:endParaRPr kumimoji="0" lang="en-US" sz="2200" b="1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86" name="Textfeld 85"/>
            <p:cNvSpPr txBox="1"/>
            <p:nvPr/>
          </p:nvSpPr>
          <p:spPr>
            <a:xfrm>
              <a:off x="586596" y="3286410"/>
              <a:ext cx="1149479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spcAft>
                  <a:spcPts val="0"/>
                </a:spcAft>
                <a:buNone/>
              </a:pPr>
              <a:r>
                <a:rPr lang="en-US" sz="1100" dirty="0" smtClean="0"/>
                <a:t>cw37</a:t>
              </a:r>
            </a:p>
            <a:p>
              <a:pPr algn="r">
                <a:spcAft>
                  <a:spcPts val="0"/>
                </a:spcAft>
                <a:buNone/>
              </a:pPr>
              <a:r>
                <a:rPr lang="en-US" sz="800" dirty="0" smtClean="0"/>
                <a:t>Series Sourcing completed</a:t>
              </a:r>
              <a:endParaRPr lang="en-US" sz="800" dirty="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0120403_LMB_Project_Reporting_Template">
  <a:themeElements>
    <a:clrScheme name="2900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CC00"/>
      </a:accent1>
      <a:accent2>
        <a:srgbClr val="FFFF99"/>
      </a:accent2>
      <a:accent3>
        <a:srgbClr val="FFFFFF"/>
      </a:accent3>
      <a:accent4>
        <a:srgbClr val="000000"/>
      </a:accent4>
      <a:accent5>
        <a:srgbClr val="FFE2AA"/>
      </a:accent5>
      <a:accent6>
        <a:srgbClr val="E7E78A"/>
      </a:accent6>
      <a:hlink>
        <a:srgbClr val="B2B2B2"/>
      </a:hlink>
      <a:folHlink>
        <a:srgbClr val="DDDDDD"/>
      </a:folHlink>
    </a:clrScheme>
    <a:fontScheme name="29007">
      <a:majorFont>
        <a:latin typeface="Arial Black"/>
        <a:ea typeface=""/>
        <a:cs typeface=""/>
      </a:majorFont>
      <a:minorFont>
        <a:latin typeface="Arial"/>
        <a:ea typeface=""/>
        <a:cs typeface="Arial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808080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265113" marR="0" indent="-265113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40000"/>
          </a:spcAft>
          <a:buClr>
            <a:schemeClr val="accent1"/>
          </a:buClr>
          <a:buSzTx/>
          <a:buFont typeface="Wingdings" pitchFamily="2" charset="2"/>
          <a:buChar char="n"/>
          <a:tabLst/>
          <a:defRPr kumimoji="0" lang="de-DE" sz="22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808080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265113" marR="0" indent="-265113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40000"/>
          </a:spcAft>
          <a:buClr>
            <a:schemeClr val="accent1"/>
          </a:buClr>
          <a:buSzTx/>
          <a:buFont typeface="Wingdings" pitchFamily="2" charset="2"/>
          <a:buChar char="n"/>
          <a:tabLst/>
          <a:defRPr kumimoji="0" lang="de-DE" sz="22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2900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00"/>
        </a:accent1>
        <a:accent2>
          <a:srgbClr val="FFFF99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E7E78A"/>
        </a:accent6>
        <a:hlink>
          <a:srgbClr val="B2B2B2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LongProperties xmlns="http://schemas.microsoft.com/office/2006/metadata/longProperties">
  <LongProp xmlns="" name="WorkflowCreationPath"><![CDATA[15aa1d1a-f165-4ab7-a5d7-adc31d353b90,5;15aa1d1a-f165-4ab7-a5d7-adc31d353b90,5;15aa1d1a-f165-4ab7-a5d7-adc31d353b90,5;15aa1d1a-f165-4ab7-a5d7-adc31d353b90,5;15aa1d1a-f165-4ab7-a5d7-adc31d353b90,6;15aa1d1a-f165-4ab7-a5d7-adc31d353b90,6;15aa1d1a-f165-4ab7-a515aa1d1a-f165-4ab7-a5d7-adc31d353b90,3;15aa1d1a-f165-4ab7-a5d7-adc31d353b90,3;15aa1d1a-f165-4ab7-a5d7-adc31d353b90,3;15aa1d1a-f165-4ab7-a5d7-adc31d353b90,4;15aa1d1a-f165-4ab7-a5d7-adc31d353b90,4;15aa1d1a-f165-4ab7-a5d7-adc31d353b90,5;15aa1d1a-f165-4ab7-a5d7-adc31d353b90,5;15aa1d1a-f165-4ab7-a5d7-adc31d353b90,6;15aa1d1a-f165-4ab7-a5d7-adc31d353b90,6;15aa1d1a-f165-4ab7-a5d7-adc31d353b90,6;15aa1d1a-f165-4ab7-a5d7-adc31d353b90,9;15aa1d1a-f165-4ab7-a5d7-adc31d353b90,9;15aa1d1a-f165-4ab7-a5d7-adc31d353b90,9;15aa1d1a-f165-4ab7-a5d7-adc31d353b90,10;15aa1d1a-f165-4ab7-a5d7-adc31d353b90,10;15aa1d1a-f165-4ab7-a5d7-adc31d353b90,11;15aa1d1a-f165-4ab7-a5d7-adc31d353b90,11;15aa1d1a-f165-4ab7-a5d7-adc31d353b90,12;15aa1d1a-f165-4ab7-a5d7-adc31d353b90,12;15aa1d1a-f165-4ab7-a5d7-adc31d353b90,12;15aa1d1a-f165-4ab7-a5d7-adc31d353b90,15;15aa1d1a-f165-4ab7-a5d7-adc31d353b90,15;15aa1d1a-f165-4ab7-a5d7-adc31d353b90,15;15aa1d1a-f165-4ab7-a5d7-adc31d353b90,16;15aa1d1a-f165-4ab7-a5d7-adc31d353b90,16;15aa1d1a-f165-4ab7-a5d7-adc31d353b90,17;15aa1d1a-f165-4ab7-a5d7-adc31d353b90,17;15aa1d1a-f165-4ab7-a5d7-adc31d353b90,18;15aa1d1a-f165-4ab7-a5d7-adc31d353b90,18;15aa1d1a-f165-4ab7-a5d7-adc31d353b90,18;15aa1d1a-f165-4ab7-a5d7-adc31d353b90,24;15aa1d1a-f165-4ab7-a5d7-adc31d353b90,24;15aa1d1a-f165-4ab7-a5d7-adc31d353b90,24;15aa1d1a-f165-4ab7-a5d7-adc31d353b90,25;15aa1d1a-f165-4ab7-a5d7-adc31d353b90,25;15aa1d1a-f165-4ab7-a5d7-adc31d353b90,26;15aa1d1a-f165-4ab7-a5d7-adc31d353b90,26;15aa1d1a-f165-4ab7-a5d7-adc31d353b90,27;15aa1d1a-f165-4ab7-a5d7-adc31d353b90,27;15aa1d1a-f165-4ab7-a5d7-adc31d353b90,27;]]></LongProp>
</Long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85AA8B339BAE45B5809CD0224EED3B" ma:contentTypeVersion="0" ma:contentTypeDescription="Create a new document." ma:contentTypeScope="" ma:versionID="7eb29f0df31dd954683356cc4a333f74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Props1.xml><?xml version="1.0" encoding="utf-8"?>
<ds:datastoreItem xmlns:ds="http://schemas.openxmlformats.org/officeDocument/2006/customXml" ds:itemID="{5BE5877A-049B-4DB4-81C8-C4EB6EE1F833}">
  <ds:schemaRefs>
    <ds:schemaRef ds:uri="http://schemas.microsoft.com/office/2006/metadata/longProperties"/>
    <ds:schemaRef ds:uri=""/>
  </ds:schemaRefs>
</ds:datastoreItem>
</file>

<file path=customXml/itemProps2.xml><?xml version="1.0" encoding="utf-8"?>
<ds:datastoreItem xmlns:ds="http://schemas.openxmlformats.org/officeDocument/2006/customXml" ds:itemID="{1CAF7CFD-0D04-4CF5-9325-4F23C6BA078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47BD7F3-FBBF-4C42-9112-8B7A21E803DB}">
  <ds:schemaRefs>
    <ds:schemaRef ds:uri="http://www.w3.org/XML/1998/namespace"/>
    <ds:schemaRef ds:uri="http://purl.org/dc/elements/1.1/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microsoft.com/office/infopath/2007/PartnerControls"/>
  </ds:schemaRefs>
</ds:datastoreItem>
</file>

<file path=customXml/itemProps4.xml><?xml version="1.0" encoding="utf-8"?>
<ds:datastoreItem xmlns:ds="http://schemas.openxmlformats.org/officeDocument/2006/customXml" ds:itemID="{69E99C13-EB0C-4910-9339-82C8ED66226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20120403_LMB_Project_Reporting_Template</Template>
  <TotalTime>0</TotalTime>
  <Words>452</Words>
  <Application>Microsoft Office PowerPoint</Application>
  <PresentationFormat>A4 Paper (210x297 mm)</PresentationFormat>
  <Paragraphs>170</Paragraphs>
  <Slides>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20120403_LMB_Project_Reporting_Template</vt:lpstr>
      <vt:lpstr>Project Status – Sculi (ITM)</vt:lpstr>
      <vt:lpstr>Project Status – Sculi (ITM)</vt:lpstr>
      <vt:lpstr>Project Status – Sculi (ITM)</vt:lpstr>
      <vt:lpstr>Project Status – Sculi (ITM)</vt:lpstr>
    </vt:vector>
  </TitlesOfParts>
  <Company>Liebherr Machines Bulle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Status – 6E00Tier 4f Exhaust Flap Actuator</dc:title>
  <dc:creator>Thomas Steffen (LMB)</dc:creator>
  <cp:lastModifiedBy>Terreaux Patrick (LMB)</cp:lastModifiedBy>
  <cp:revision>43</cp:revision>
  <cp:lastPrinted>2012-05-09T08:58:53Z</cp:lastPrinted>
  <dcterms:created xsi:type="dcterms:W3CDTF">2012-04-05T07:36:07Z</dcterms:created>
  <dcterms:modified xsi:type="dcterms:W3CDTF">2012-05-14T13:33:38Z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">
    <vt:lpwstr>ISO Document</vt:lpwstr>
  </property>
  <property fmtid="{D5CDD505-2E9C-101B-9397-08002B2CF9AE}" pid="3" name="display_urn:schemas-microsoft-com:office:office#Approver">
    <vt:lpwstr>AQ6 Owners</vt:lpwstr>
  </property>
  <property fmtid="{D5CDD505-2E9C-101B-9397-08002B2CF9AE}" pid="4" name="display_urn:schemas-microsoft-com:office:office#liberator">
    <vt:lpwstr>AQ6 Owners</vt:lpwstr>
  </property>
  <property fmtid="{D5CDD505-2E9C-101B-9397-08002B2CF9AE}" pid="5" name="WorkflowCreationPath">
    <vt:lpwstr>15aa1d1a-f165-4ab7-a5d7-adc31d353b90,5;15aa1d1a-f165-4ab7-a5d7-adc31d353b90,5;15aa1d1a-f165-4ab7-a5d7-adc31d353b90,5;15aa1d1a-f165-4ab7-a5d7-adc31d353b90,5;15aa1d1a-f165-4ab7-a5d7-adc31d353b90,6;15aa1d1a-f165-4ab7-a5d7-adc31d353b90,6;15aa1d1a-f165-4ab7-a5</vt:lpwstr>
  </property>
  <property fmtid="{D5CDD505-2E9C-101B-9397-08002B2CF9AE}" pid="6" name="display_urn:schemas-microsoft-com:office:office#Editor1">
    <vt:lpwstr>Hahn Thorsten (LMB)</vt:lpwstr>
  </property>
  <property fmtid="{D5CDD505-2E9C-101B-9397-08002B2CF9AE}" pid="7" name="LMB_Teams">
    <vt:lpwstr>LMB-Allgemein</vt:lpwstr>
  </property>
  <property fmtid="{D5CDD505-2E9C-101B-9397-08002B2CF9AE}" pid="8" name="Approver">
    <vt:lpwstr>4</vt:lpwstr>
  </property>
  <property fmtid="{D5CDD505-2E9C-101B-9397-08002B2CF9AE}" pid="9" name="Liberator date">
    <vt:lpwstr>2011-09-07T22:00:00+00:00</vt:lpwstr>
  </property>
  <property fmtid="{D5CDD505-2E9C-101B-9397-08002B2CF9AE}" pid="10" name="LMB_Doc_Class">
    <vt:lpwstr>0029-Formular</vt:lpwstr>
  </property>
  <property fmtid="{D5CDD505-2E9C-101B-9397-08002B2CF9AE}" pid="11" name="liberator">
    <vt:lpwstr>4</vt:lpwstr>
  </property>
  <property fmtid="{D5CDD505-2E9C-101B-9397-08002B2CF9AE}" pid="12" name="Editor1">
    <vt:lpwstr>22</vt:lpwstr>
  </property>
  <property fmtid="{D5CDD505-2E9C-101B-9397-08002B2CF9AE}" pid="13" name="Approver date">
    <vt:lpwstr>2011-09-07T22:00:00+00:00</vt:lpwstr>
  </property>
  <property fmtid="{D5CDD505-2E9C-101B-9397-08002B2CF9AE}" pid="14" name="Editor date">
    <vt:lpwstr>2011-09-07T22:00:00+00:00</vt:lpwstr>
  </property>
  <property fmtid="{D5CDD505-2E9C-101B-9397-08002B2CF9AE}" pid="15" name="Theme">
    <vt:lpwstr>Kommunikation - Communication</vt:lpwstr>
  </property>
  <property fmtid="{D5CDD505-2E9C-101B-9397-08002B2CF9AE}" pid="16" name="Modification reason">
    <vt:lpwstr>Aenderung Metadaten</vt:lpwstr>
  </property>
  <property fmtid="{D5CDD505-2E9C-101B-9397-08002B2CF9AE}" pid="17" name="ISO Code">
    <vt:lpwstr>LMB_0029_00057</vt:lpwstr>
  </property>
  <property fmtid="{D5CDD505-2E9C-101B-9397-08002B2CF9AE}" pid="18" name="LMB Version">
    <vt:lpwstr>0</vt:lpwstr>
  </property>
  <property fmtid="{D5CDD505-2E9C-101B-9397-08002B2CF9AE}" pid="19" name="ContentTypeId">
    <vt:lpwstr>0x0101001C85AA8B339BAE45B5809CD0224EED3B</vt:lpwstr>
  </property>
</Properties>
</file>