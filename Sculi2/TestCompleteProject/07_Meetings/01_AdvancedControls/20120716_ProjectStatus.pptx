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5"/>
  </p:sldMasterIdLst>
  <p:notesMasterIdLst>
    <p:notesMasterId r:id="rId11"/>
  </p:notesMasterIdLst>
  <p:handoutMasterIdLst>
    <p:handoutMasterId r:id="rId12"/>
  </p:handoutMasterIdLst>
  <p:sldIdLst>
    <p:sldId id="299" r:id="rId6"/>
    <p:sldId id="300" r:id="rId7"/>
    <p:sldId id="296" r:id="rId8"/>
    <p:sldId id="297" r:id="rId9"/>
    <p:sldId id="301" r:id="rId10"/>
  </p:sldIdLst>
  <p:sldSz cx="9906000" cy="6858000" type="A4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336699"/>
    <a:srgbClr val="346691"/>
    <a:srgbClr val="394791"/>
    <a:srgbClr val="FFCC00"/>
    <a:srgbClr val="97A1D5"/>
    <a:srgbClr val="6373C1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57" autoAdjust="0"/>
    <p:restoredTop sz="94608" autoAdjust="0"/>
  </p:normalViewPr>
  <p:slideViewPr>
    <p:cSldViewPr snapToGrid="0">
      <p:cViewPr>
        <p:scale>
          <a:sx n="110" d="100"/>
          <a:sy n="110" d="100"/>
        </p:scale>
        <p:origin x="-936" y="-27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1475" y="9594850"/>
            <a:ext cx="1543050" cy="3016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0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r>
              <a:rPr lang="de-DE"/>
              <a:t>XX.XX.XXXX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74650" y="361950"/>
            <a:ext cx="5341938" cy="268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6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r>
              <a:rPr lang="de-DE"/>
              <a:t>Präsentationstitel eingeben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479800" y="196850"/>
            <a:ext cx="2944813" cy="4953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Aft>
                <a:spcPct val="0"/>
              </a:spcAft>
              <a:buClrTx/>
              <a:buFontTx/>
              <a:buNone/>
              <a:defRPr sz="12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fld id="{3E5C08D1-43BB-49AA-A66C-FBB91468744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pic>
        <p:nvPicPr>
          <p:cNvPr id="10245" name="Picture 6" descr="Logo neu Spatio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3" y="9428163"/>
            <a:ext cx="224790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2815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482975" y="200025"/>
            <a:ext cx="294640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Aft>
                <a:spcPct val="0"/>
              </a:spcAft>
              <a:buClrTx/>
              <a:buFontTx/>
              <a:buNone/>
              <a:defRPr sz="12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fld id="{BB822869-1B0A-4C7D-A4D0-899AAD10FAD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4650" y="9593263"/>
            <a:ext cx="2946400" cy="2095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0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r>
              <a:rPr lang="de-DE"/>
              <a:t>XX.XX.XXXX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74650" y="228600"/>
            <a:ext cx="5235575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6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r>
              <a:rPr lang="de-DE"/>
              <a:t>Präsentationstitel eingeben</a:t>
            </a:r>
          </a:p>
        </p:txBody>
      </p:sp>
      <p:sp>
        <p:nvSpPr>
          <p:cNvPr id="8197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3363" y="850900"/>
            <a:ext cx="6330950" cy="43846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74663" y="5492750"/>
            <a:ext cx="5848350" cy="36369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Textmasterformate durch Klicken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pic>
        <p:nvPicPr>
          <p:cNvPr id="8199" name="Picture 15" descr="Logo neu Spatio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3" y="9428163"/>
            <a:ext cx="224790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6197419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7048FCE-74DA-4D7F-A46D-DEF51EA221CB}" type="slidenum">
              <a:rPr lang="de-DE" sz="1200" b="0" smtClean="0">
                <a:solidFill>
                  <a:schemeClr val="bg2"/>
                </a:solidFill>
                <a:latin typeface="Arial Black" pitchFamily="34" charset="0"/>
              </a:rPr>
              <a:pPr eaLnBrk="1" hangingPunct="1"/>
              <a:t>1</a:t>
            </a:fld>
            <a:endParaRPr lang="de-DE" sz="1200" b="0" smtClean="0">
              <a:solidFill>
                <a:schemeClr val="bg2"/>
              </a:solidFill>
              <a:latin typeface="Arial Black" pitchFamily="34" charset="0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de-DE" sz="1000" b="0" smtClean="0">
                <a:solidFill>
                  <a:schemeClr val="bg2"/>
                </a:solidFill>
                <a:latin typeface="Arial Black" pitchFamily="34" charset="0"/>
              </a:rPr>
              <a:t>XX.XX.XXXX</a:t>
            </a:r>
          </a:p>
        </p:txBody>
      </p:sp>
      <p:sp>
        <p:nvSpPr>
          <p:cNvPr id="922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de-DE" sz="1600" b="0" smtClean="0">
                <a:solidFill>
                  <a:schemeClr val="bg2"/>
                </a:solidFill>
                <a:latin typeface="Arial Black" pitchFamily="34" charset="0"/>
              </a:rPr>
              <a:t>Präsentationstitel eingeben</a:t>
            </a:r>
          </a:p>
        </p:txBody>
      </p:sp>
      <p:sp>
        <p:nvSpPr>
          <p:cNvPr id="92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 neu Spatio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8950" y="6237288"/>
            <a:ext cx="26384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412750" y="6169025"/>
            <a:ext cx="9045575" cy="0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 rot="16200000">
            <a:off x="8878095" y="5241131"/>
            <a:ext cx="1573212" cy="2444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46800" rIns="90000" bIns="46800"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000" b="0" smtClean="0">
                <a:solidFill>
                  <a:srgbClr val="C0C0C0"/>
                </a:solidFill>
              </a:rPr>
              <a:t>Copyright Liebherr 2007</a:t>
            </a:r>
          </a:p>
        </p:txBody>
      </p:sp>
      <p:sp>
        <p:nvSpPr>
          <p:cNvPr id="108551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412750" y="446088"/>
            <a:ext cx="9155113" cy="1468437"/>
          </a:xfrm>
          <a:extLst/>
        </p:spPr>
        <p:txBody>
          <a:bodyPr lIns="90000" anchor="b"/>
          <a:lstStyle>
            <a:lvl1pPr algn="r">
              <a:defRPr sz="3200"/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de-DE" noProof="0" smtClean="0"/>
          </a:p>
        </p:txBody>
      </p:sp>
      <p:sp>
        <p:nvSpPr>
          <p:cNvPr id="108552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20700" y="1811338"/>
            <a:ext cx="9047163" cy="1303337"/>
          </a:xfrm>
          <a:extLst/>
        </p:spPr>
        <p:txBody>
          <a:bodyPr lIns="91440" tIns="45720" rIns="91440" bIns="45720"/>
          <a:lstStyle>
            <a:lvl1pPr marL="0" indent="0" algn="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  <a:endParaRPr lang="de-DE" noProof="0" smtClean="0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320675" y="6350000"/>
            <a:ext cx="2311400" cy="476250"/>
          </a:xfrm>
          <a:prstGeom prst="rect">
            <a:avLst/>
          </a:prstGeom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200">
                <a:solidFill>
                  <a:srgbClr val="C0C0C0"/>
                </a:solidFill>
                <a:latin typeface="+mj-lt"/>
              </a:defRPr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581284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011110-CF5B-4815-A291-D603892E3B5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354739057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30D7F-76DC-4B79-8333-FE110E8BE46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164113557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07975" y="1150938"/>
            <a:ext cx="4133850" cy="2027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94225" y="1150938"/>
            <a:ext cx="4133850" cy="2027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EC213E-8A5D-40F1-B26D-24D4B94EA30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394775947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DE0C8-A4E9-485E-974B-5E434AEF3EB0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76833886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0EDDE5-4854-4968-A7E2-2D48F337B18C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206139256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416335-4389-4B44-922B-98973A8B316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381967162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005B2-7CA4-411B-92E1-794808D1D37C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59184848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6CD6F-D2DD-47A2-BF04-F828046D24D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353355364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3C7436-5C0A-4403-BE40-1D9AC06D759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255961030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881813" y="361950"/>
            <a:ext cx="2190750" cy="28162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07975" y="361950"/>
            <a:ext cx="6421438" cy="28162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665C9F-0A69-4303-BE49-DE650EE5D63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352269737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750" y="361950"/>
            <a:ext cx="8659152" cy="3746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7843" y="1150939"/>
            <a:ext cx="4127500" cy="23843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0443" y="1150939"/>
            <a:ext cx="4127500" cy="23843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F5AE4-875C-40CF-9FEC-30A9F8082FF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29391593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87313" y="777875"/>
            <a:ext cx="9748837" cy="0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4488" y="6348413"/>
            <a:ext cx="682625" cy="2317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200">
                <a:solidFill>
                  <a:srgbClr val="C0C0C0"/>
                </a:solidFill>
                <a:latin typeface="+mj-lt"/>
              </a:defRPr>
            </a:lvl1pPr>
          </a:lstStyle>
          <a:p>
            <a:pPr>
              <a:defRPr/>
            </a:pPr>
            <a:fld id="{465D2A7B-5442-4F8A-B700-A725A980B19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06438" y="6356350"/>
            <a:ext cx="5108575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200">
                <a:solidFill>
                  <a:srgbClr val="C0C0C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  <p:pic>
        <p:nvPicPr>
          <p:cNvPr id="1029" name="Picture 5" descr="Logo neu Spatio1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688" y="6237288"/>
            <a:ext cx="26384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73025" y="6169025"/>
            <a:ext cx="9747250" cy="0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12750" y="361950"/>
            <a:ext cx="8659813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Klicken Sie, um das Titelformat zu bearbeiten</a:t>
            </a:r>
          </a:p>
        </p:txBody>
      </p:sp>
      <p:sp>
        <p:nvSpPr>
          <p:cNvPr id="1032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7975" y="1150938"/>
            <a:ext cx="8420100" cy="202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de-DE" smtClean="0"/>
              <a:t>Textmasterformate durch Klicken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1033" name="Text Box 14"/>
          <p:cNvSpPr txBox="1">
            <a:spLocks noChangeArrowheads="1"/>
          </p:cNvSpPr>
          <p:nvPr/>
        </p:nvSpPr>
        <p:spPr bwMode="auto">
          <a:xfrm rot="-5400000">
            <a:off x="8469313" y="4670425"/>
            <a:ext cx="2554287" cy="2143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46800" rIns="90000" bIns="46800"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800" b="0" smtClean="0">
                <a:solidFill>
                  <a:srgbClr val="C0C0C0"/>
                </a:solidFill>
              </a:rPr>
              <a:t>Copyright Liebherr 2007 / LMB_0029_00057 Vers. 2.0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transition/>
  <p:timing>
    <p:tnLst>
      <p:par>
        <p:cTn id="1" dur="indefinite" restart="never" nodeType="tmRoot"/>
      </p:par>
    </p:tnLst>
  </p:timing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9pPr>
    </p:titleStyle>
    <p:bodyStyle>
      <a:lvl1pPr marL="265113" indent="-265113" algn="l" rtl="0" eaLnBrk="1" fontAlgn="base" hangingPunct="1">
        <a:spcBef>
          <a:spcPct val="0"/>
        </a:spcBef>
        <a:spcAft>
          <a:spcPct val="40000"/>
        </a:spcAft>
        <a:buClr>
          <a:schemeClr val="accent1"/>
        </a:buClr>
        <a:buFont typeface="Wingdings" pitchFamily="2" charset="2"/>
        <a:buChar char="n"/>
        <a:defRPr sz="2200" b="1">
          <a:solidFill>
            <a:srgbClr val="000000"/>
          </a:solidFill>
          <a:latin typeface="+mn-lt"/>
          <a:ea typeface="+mn-ea"/>
          <a:cs typeface="+mn-cs"/>
        </a:defRPr>
      </a:lvl1pPr>
      <a:lvl2pPr marL="539750" indent="-273050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2pPr>
      <a:lvl3pPr marL="869950" indent="-328613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3pPr>
      <a:lvl4pPr marL="1173163" indent="-288925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4pPr>
      <a:lvl5pPr marL="1466850" indent="-292100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5pPr>
      <a:lvl6pPr marL="1924050" indent="-292100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6pPr>
      <a:lvl7pPr marL="2381250" indent="-292100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7pPr>
      <a:lvl8pPr marL="2838450" indent="-292100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8pPr>
      <a:lvl9pPr marL="3295650" indent="-292100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7DF510-0AE5-4BE6-8BF5-9F4EA66F36B4}" type="slidenum">
              <a:rPr lang="de-DE"/>
              <a:pPr>
                <a:defRPr/>
              </a:pPr>
              <a:t>1</a:t>
            </a:fld>
            <a:endParaRPr lang="de-DE" dirty="0"/>
          </a:p>
        </p:txBody>
      </p:sp>
      <p:sp>
        <p:nvSpPr>
          <p:cNvPr id="2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LMB | AC-3 | P. </a:t>
            </a:r>
            <a:r>
              <a:rPr lang="de-DE" dirty="0" smtClean="0"/>
              <a:t>Terreaux | </a:t>
            </a:r>
            <a:r>
              <a:rPr lang="de-DE" dirty="0"/>
              <a:t>Project Status | </a:t>
            </a:r>
            <a:r>
              <a:rPr lang="de-DE" dirty="0" smtClean="0"/>
              <a:t>2012-07-09</a:t>
            </a:r>
            <a:endParaRPr lang="de-DE" dirty="0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412750" y="361950"/>
            <a:ext cx="9061450" cy="374650"/>
          </a:xfrm>
        </p:spPr>
        <p:txBody>
          <a:bodyPr/>
          <a:lstStyle/>
          <a:p>
            <a:pPr eaLnBrk="1" hangingPunct="1"/>
            <a:r>
              <a:rPr lang="en-US" dirty="0" smtClean="0"/>
              <a:t>Project Status – 6E0022 Sculi</a:t>
            </a:r>
          </a:p>
        </p:txBody>
      </p:sp>
      <p:sp>
        <p:nvSpPr>
          <p:cNvPr id="5" name="Abgerundetes Rechteck 4"/>
          <p:cNvSpPr/>
          <p:nvPr/>
        </p:nvSpPr>
        <p:spPr bwMode="auto">
          <a:xfrm>
            <a:off x="374650" y="1236663"/>
            <a:ext cx="6567488" cy="1927225"/>
          </a:xfrm>
          <a:prstGeom prst="roundRect">
            <a:avLst>
              <a:gd name="adj" fmla="val 9948"/>
            </a:avLst>
          </a:prstGeom>
          <a:noFill/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79" name="Textfeld 5"/>
          <p:cNvSpPr txBox="1">
            <a:spLocks noChangeArrowheads="1"/>
          </p:cNvSpPr>
          <p:nvPr/>
        </p:nvSpPr>
        <p:spPr bwMode="auto">
          <a:xfrm>
            <a:off x="1457325" y="1392238"/>
            <a:ext cx="1165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Clr>
                <a:schemeClr val="accent1"/>
              </a:buClr>
              <a:buFont typeface="Wingdings" pitchFamily="2" charset="2"/>
              <a:buNone/>
            </a:pPr>
            <a:r>
              <a:rPr lang="en-US" sz="1400" dirty="0"/>
              <a:t>Product</a:t>
            </a:r>
          </a:p>
          <a:p>
            <a:pPr algn="ctr" eaLnBrk="1" hangingPunct="1">
              <a:buClr>
                <a:schemeClr val="accent1"/>
              </a:buClr>
              <a:buFont typeface="Wingdings" pitchFamily="2" charset="2"/>
              <a:buNone/>
            </a:pPr>
            <a:r>
              <a:rPr lang="en-US" sz="1400" dirty="0"/>
              <a:t>Maturity</a:t>
            </a:r>
          </a:p>
        </p:txBody>
      </p:sp>
      <p:sp>
        <p:nvSpPr>
          <p:cNvPr id="3080" name="Textfeld 14"/>
          <p:cNvSpPr txBox="1">
            <a:spLocks noChangeArrowheads="1"/>
          </p:cNvSpPr>
          <p:nvPr/>
        </p:nvSpPr>
        <p:spPr bwMode="auto">
          <a:xfrm>
            <a:off x="2524125" y="1392238"/>
            <a:ext cx="1165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Clr>
                <a:schemeClr val="accent1"/>
              </a:buClr>
              <a:buFont typeface="Wingdings" pitchFamily="2" charset="2"/>
              <a:buNone/>
            </a:pPr>
            <a:r>
              <a:rPr lang="en-US" sz="1400" dirty="0"/>
              <a:t>Integration</a:t>
            </a:r>
          </a:p>
          <a:p>
            <a:pPr algn="ctr" eaLnBrk="1" hangingPunct="1">
              <a:buClr>
                <a:schemeClr val="accent1"/>
              </a:buClr>
              <a:buFont typeface="Wingdings" pitchFamily="2" charset="2"/>
              <a:buNone/>
            </a:pPr>
            <a:r>
              <a:rPr lang="en-US" sz="1400" dirty="0"/>
              <a:t>Maturity</a:t>
            </a:r>
          </a:p>
        </p:txBody>
      </p:sp>
      <p:sp>
        <p:nvSpPr>
          <p:cNvPr id="3081" name="Textfeld 29"/>
          <p:cNvSpPr txBox="1">
            <a:spLocks noChangeArrowheads="1"/>
          </p:cNvSpPr>
          <p:nvPr/>
        </p:nvSpPr>
        <p:spPr bwMode="auto">
          <a:xfrm>
            <a:off x="3611563" y="1392238"/>
            <a:ext cx="11668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Clr>
                <a:schemeClr val="accent1"/>
              </a:buClr>
              <a:buFont typeface="Wingdings" pitchFamily="2" charset="2"/>
              <a:buNone/>
            </a:pPr>
            <a:r>
              <a:rPr lang="en-US" sz="1400" dirty="0"/>
              <a:t>Timing</a:t>
            </a:r>
          </a:p>
        </p:txBody>
      </p:sp>
      <p:sp>
        <p:nvSpPr>
          <p:cNvPr id="3082" name="Textfeld 30"/>
          <p:cNvSpPr txBox="1">
            <a:spLocks noChangeArrowheads="1"/>
          </p:cNvSpPr>
          <p:nvPr/>
        </p:nvSpPr>
        <p:spPr bwMode="auto">
          <a:xfrm>
            <a:off x="4695825" y="1392238"/>
            <a:ext cx="11668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Clr>
                <a:schemeClr val="accent1"/>
              </a:buClr>
              <a:buFont typeface="Wingdings" pitchFamily="2" charset="2"/>
              <a:buNone/>
            </a:pPr>
            <a:r>
              <a:rPr lang="en-US" sz="1400" dirty="0"/>
              <a:t>Quality</a:t>
            </a:r>
          </a:p>
        </p:txBody>
      </p:sp>
      <p:sp>
        <p:nvSpPr>
          <p:cNvPr id="3083" name="Textfeld 42"/>
          <p:cNvSpPr txBox="1">
            <a:spLocks noChangeArrowheads="1"/>
          </p:cNvSpPr>
          <p:nvPr/>
        </p:nvSpPr>
        <p:spPr bwMode="auto">
          <a:xfrm>
            <a:off x="5886450" y="1392238"/>
            <a:ext cx="9413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Clr>
                <a:schemeClr val="accent1"/>
              </a:buClr>
              <a:buFont typeface="Wingdings" pitchFamily="2" charset="2"/>
              <a:buNone/>
            </a:pPr>
            <a:r>
              <a:rPr lang="en-US" sz="1400" dirty="0"/>
              <a:t>Costs</a:t>
            </a:r>
          </a:p>
        </p:txBody>
      </p:sp>
      <p:sp>
        <p:nvSpPr>
          <p:cNvPr id="55" name="Abgerundetes Rechteck 54"/>
          <p:cNvSpPr/>
          <p:nvPr/>
        </p:nvSpPr>
        <p:spPr bwMode="auto">
          <a:xfrm>
            <a:off x="7094538" y="1246188"/>
            <a:ext cx="2492375" cy="1928812"/>
          </a:xfrm>
          <a:prstGeom prst="roundRect">
            <a:avLst>
              <a:gd name="adj" fmla="val 9948"/>
            </a:avLst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6" name="Abgerundetes Rechteck 45"/>
          <p:cNvSpPr/>
          <p:nvPr/>
        </p:nvSpPr>
        <p:spPr bwMode="auto">
          <a:xfrm>
            <a:off x="360363" y="1239838"/>
            <a:ext cx="1138237" cy="1927225"/>
          </a:xfrm>
          <a:prstGeom prst="roundRect">
            <a:avLst>
              <a:gd name="adj" fmla="val 13811"/>
            </a:avLst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86" name="Textfeld 48"/>
          <p:cNvSpPr txBox="1">
            <a:spLocks noChangeArrowheads="1"/>
          </p:cNvSpPr>
          <p:nvPr/>
        </p:nvSpPr>
        <p:spPr bwMode="auto">
          <a:xfrm>
            <a:off x="476250" y="1392238"/>
            <a:ext cx="904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Clr>
                <a:schemeClr val="accent1"/>
              </a:buClr>
              <a:buFont typeface="Wingdings" pitchFamily="2" charset="2"/>
              <a:buNone/>
            </a:pPr>
            <a:r>
              <a:rPr lang="en-US" sz="1400" dirty="0"/>
              <a:t>Project Status</a:t>
            </a:r>
          </a:p>
        </p:txBody>
      </p:sp>
      <p:grpSp>
        <p:nvGrpSpPr>
          <p:cNvPr id="3087" name="Gruppieren 49"/>
          <p:cNvGrpSpPr>
            <a:grpSpLocks/>
          </p:cNvGrpSpPr>
          <p:nvPr/>
        </p:nvGrpSpPr>
        <p:grpSpPr bwMode="auto">
          <a:xfrm>
            <a:off x="706438" y="1982789"/>
            <a:ext cx="412750" cy="963612"/>
            <a:chOff x="2151381" y="4773613"/>
            <a:chExt cx="412114" cy="963930"/>
          </a:xfrm>
        </p:grpSpPr>
        <p:sp>
          <p:nvSpPr>
            <p:cNvPr id="51" name="Abgerundetes Rechteck 50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16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36800" tIns="54000" rIns="0" bIns="54000" anchor="ctr"/>
            <a:lstStyle/>
            <a:p>
              <a:pPr algn="ctr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sz="1800" dirty="0"/>
            </a:p>
          </p:txBody>
        </p:sp>
        <p:sp>
          <p:nvSpPr>
            <p:cNvPr id="3217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dirty="0"/>
            </a:p>
          </p:txBody>
        </p:sp>
        <p:sp>
          <p:nvSpPr>
            <p:cNvPr id="3218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dirty="0"/>
            </a:p>
          </p:txBody>
        </p:sp>
      </p:grpSp>
      <p:graphicFrame>
        <p:nvGraphicFramePr>
          <p:cNvPr id="47" name="Group 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666928"/>
              </p:ext>
            </p:extLst>
          </p:nvPr>
        </p:nvGraphicFramePr>
        <p:xfrm>
          <a:off x="400050" y="3446463"/>
          <a:ext cx="5494338" cy="2293314"/>
        </p:xfrm>
        <a:graphic>
          <a:graphicData uri="http://schemas.openxmlformats.org/drawingml/2006/table">
            <a:tbl>
              <a:tblPr/>
              <a:tblGrid>
                <a:gridCol w="1176432"/>
                <a:gridCol w="4317906"/>
              </a:tblGrid>
              <a:tr h="188016">
                <a:tc>
                  <a:txBody>
                    <a:bodyPr/>
                    <a:lstStyle/>
                    <a:p>
                      <a:pPr marL="85725" indent="0"/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Project</a:t>
                      </a:r>
                      <a:endParaRPr kumimoji="0" 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6E0022</a:t>
                      </a:r>
                      <a:endParaRPr kumimoji="0" 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</a:tr>
              <a:tr h="229038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Customers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PME / ITM</a:t>
                      </a:r>
                    </a:p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LBH, LHB, LFR, LMB, LWN, LWT </a:t>
                      </a:r>
                    </a:p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External users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59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Supported ECUs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Diesel Engines:    DC4, DC5, UPCR, </a:t>
                      </a:r>
                      <a:r>
                        <a:rPr kumimoji="0" lang="en-US" sz="1000" b="0" i="0" u="none" strike="noStrike" kern="1200" cap="none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Lidec</a:t>
                      </a: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 1</a:t>
                      </a:r>
                      <a:b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</a:b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Machines:             UEC3, Master 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7929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Future ECUs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Diesel Engines:     </a:t>
                      </a:r>
                      <a:r>
                        <a:rPr kumimoji="0" lang="en-US" sz="1000" b="0" i="0" u="none" strike="noStrike" kern="1200" cap="none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Lidec</a:t>
                      </a: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 2 (March 2013)</a:t>
                      </a:r>
                      <a:b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</a:b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Machines:             Master 5 (2015)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4138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Current version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1.362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7929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Volume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2’500 users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7929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Target Price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200 € / license per year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0343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Budget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1.2 Mio € / year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" name="Group 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41308"/>
              </p:ext>
            </p:extLst>
          </p:nvPr>
        </p:nvGraphicFramePr>
        <p:xfrm>
          <a:off x="6053138" y="3452813"/>
          <a:ext cx="3516312" cy="2248790"/>
        </p:xfrm>
        <a:graphic>
          <a:graphicData uri="http://schemas.openxmlformats.org/drawingml/2006/table">
            <a:tbl>
              <a:tblPr/>
              <a:tblGrid>
                <a:gridCol w="1828446"/>
                <a:gridCol w="1103889"/>
                <a:gridCol w="583977"/>
              </a:tblGrid>
              <a:tr h="228896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Product Owner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P. Terreaux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7884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Scrum Master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L. Lantier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1320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SW Architect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F. Salvalai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8162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SW Engineer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F. Bressoud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5981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cap="none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Y. Brulhart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7884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cap="none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O. Monney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7884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cap="none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P. Pombeiro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7884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N. </a:t>
                      </a:r>
                      <a:r>
                        <a:rPr kumimoji="0" lang="en-US" sz="1000" b="0" i="0" u="none" strike="noStrike" cap="none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Thal</a:t>
                      </a:r>
                      <a:endParaRPr kumimoji="0" lang="en-US" sz="1000" b="0" i="0" u="none" strike="noStrike" cap="none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5902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Tester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H. Turhal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AC3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6993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Documentation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M. Catillaz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KD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3180" name="Gruppieren 43"/>
          <p:cNvGrpSpPr>
            <a:grpSpLocks/>
          </p:cNvGrpSpPr>
          <p:nvPr/>
        </p:nvGrpSpPr>
        <p:grpSpPr bwMode="auto">
          <a:xfrm>
            <a:off x="10037763" y="355600"/>
            <a:ext cx="411162" cy="963613"/>
            <a:chOff x="2151381" y="4773613"/>
            <a:chExt cx="412114" cy="963930"/>
          </a:xfrm>
        </p:grpSpPr>
        <p:sp>
          <p:nvSpPr>
            <p:cNvPr id="53" name="Abgerundetes Rechteck 44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212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36800" tIns="54000" rIns="0" bIns="54000" anchor="ctr"/>
            <a:lstStyle/>
            <a:p>
              <a:pPr algn="ctr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sz="1800"/>
            </a:p>
          </p:txBody>
        </p:sp>
        <p:sp>
          <p:nvSpPr>
            <p:cNvPr id="3213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3214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grpSp>
        <p:nvGrpSpPr>
          <p:cNvPr id="3181" name="Gruppieren 43"/>
          <p:cNvGrpSpPr>
            <a:grpSpLocks/>
          </p:cNvGrpSpPr>
          <p:nvPr/>
        </p:nvGrpSpPr>
        <p:grpSpPr bwMode="auto">
          <a:xfrm>
            <a:off x="10037763" y="1620838"/>
            <a:ext cx="411162" cy="963612"/>
            <a:chOff x="2151381" y="4773613"/>
            <a:chExt cx="412114" cy="963930"/>
          </a:xfrm>
        </p:grpSpPr>
        <p:sp>
          <p:nvSpPr>
            <p:cNvPr id="59" name="Abgerundetes Rechteck 44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208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rgbClr val="92D05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36800" tIns="54000" rIns="0" bIns="54000" anchor="ctr"/>
            <a:lstStyle/>
            <a:p>
              <a:pPr algn="ctr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sz="1800"/>
            </a:p>
          </p:txBody>
        </p:sp>
        <p:sp>
          <p:nvSpPr>
            <p:cNvPr id="3209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3210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grpSp>
        <p:nvGrpSpPr>
          <p:cNvPr id="3182" name="Gruppieren 43"/>
          <p:cNvGrpSpPr>
            <a:grpSpLocks/>
          </p:cNvGrpSpPr>
          <p:nvPr/>
        </p:nvGrpSpPr>
        <p:grpSpPr bwMode="auto">
          <a:xfrm>
            <a:off x="10037763" y="2816225"/>
            <a:ext cx="411162" cy="963613"/>
            <a:chOff x="2151381" y="4773613"/>
            <a:chExt cx="412114" cy="963930"/>
          </a:xfrm>
        </p:grpSpPr>
        <p:sp>
          <p:nvSpPr>
            <p:cNvPr id="64" name="Abgerundetes Rechteck 44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204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36800" tIns="54000" rIns="0" bIns="54000" anchor="ctr"/>
            <a:lstStyle/>
            <a:p>
              <a:pPr algn="ctr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sz="1800"/>
            </a:p>
          </p:txBody>
        </p:sp>
        <p:sp>
          <p:nvSpPr>
            <p:cNvPr id="3205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3206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grpSp>
        <p:nvGrpSpPr>
          <p:cNvPr id="3183" name="Gruppieren 43"/>
          <p:cNvGrpSpPr>
            <a:grpSpLocks/>
          </p:cNvGrpSpPr>
          <p:nvPr/>
        </p:nvGrpSpPr>
        <p:grpSpPr bwMode="auto">
          <a:xfrm>
            <a:off x="5073650" y="1982789"/>
            <a:ext cx="411163" cy="963612"/>
            <a:chOff x="2151381" y="4773613"/>
            <a:chExt cx="412114" cy="963930"/>
          </a:xfrm>
        </p:grpSpPr>
        <p:sp>
          <p:nvSpPr>
            <p:cNvPr id="79" name="Abgerundetes Rechteck 44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200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36800" tIns="54000" rIns="0" bIns="54000" anchor="ctr"/>
            <a:lstStyle/>
            <a:p>
              <a:pPr algn="ctr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sz="1800"/>
            </a:p>
          </p:txBody>
        </p:sp>
        <p:sp>
          <p:nvSpPr>
            <p:cNvPr id="3201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3202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pic>
        <p:nvPicPr>
          <p:cNvPr id="3224" name="Picture 152" descr="https://www.liebherr.i/emt/ServiceAndDiagnostic/images1/hardha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24" y="1303814"/>
            <a:ext cx="1740002" cy="1740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2" name="Gruppieren 43"/>
          <p:cNvGrpSpPr>
            <a:grpSpLocks/>
          </p:cNvGrpSpPr>
          <p:nvPr/>
        </p:nvGrpSpPr>
        <p:grpSpPr bwMode="auto">
          <a:xfrm>
            <a:off x="6151563" y="1982788"/>
            <a:ext cx="411162" cy="963613"/>
            <a:chOff x="2151381" y="4773613"/>
            <a:chExt cx="412114" cy="963930"/>
          </a:xfrm>
        </p:grpSpPr>
        <p:sp>
          <p:nvSpPr>
            <p:cNvPr id="63" name="Abgerundetes Rechteck 44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6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36800" tIns="54000" rIns="0" bIns="54000" anchor="ctr"/>
            <a:lstStyle/>
            <a:p>
              <a:pPr algn="ctr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sz="1800"/>
            </a:p>
          </p:txBody>
        </p:sp>
        <p:sp>
          <p:nvSpPr>
            <p:cNvPr id="67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68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grpSp>
        <p:nvGrpSpPr>
          <p:cNvPr id="81" name="Gruppieren 43"/>
          <p:cNvGrpSpPr>
            <a:grpSpLocks/>
          </p:cNvGrpSpPr>
          <p:nvPr/>
        </p:nvGrpSpPr>
        <p:grpSpPr bwMode="auto">
          <a:xfrm>
            <a:off x="2901156" y="1982789"/>
            <a:ext cx="411162" cy="963612"/>
            <a:chOff x="2151381" y="4773613"/>
            <a:chExt cx="412114" cy="963930"/>
          </a:xfrm>
        </p:grpSpPr>
        <p:sp>
          <p:nvSpPr>
            <p:cNvPr id="82" name="Abgerundetes Rechteck 44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3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rgbClr val="92D05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36800" tIns="54000" rIns="0" bIns="54000" anchor="ctr"/>
            <a:lstStyle/>
            <a:p>
              <a:pPr algn="ctr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sz="1800"/>
            </a:p>
          </p:txBody>
        </p:sp>
        <p:sp>
          <p:nvSpPr>
            <p:cNvPr id="84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85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grpSp>
        <p:nvGrpSpPr>
          <p:cNvPr id="86" name="Gruppieren 43"/>
          <p:cNvGrpSpPr>
            <a:grpSpLocks/>
          </p:cNvGrpSpPr>
          <p:nvPr/>
        </p:nvGrpSpPr>
        <p:grpSpPr bwMode="auto">
          <a:xfrm>
            <a:off x="1847084" y="1982789"/>
            <a:ext cx="411162" cy="963612"/>
            <a:chOff x="2151381" y="4773613"/>
            <a:chExt cx="412114" cy="963930"/>
          </a:xfrm>
        </p:grpSpPr>
        <p:sp>
          <p:nvSpPr>
            <p:cNvPr id="87" name="Abgerundetes Rechteck 44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8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rgbClr val="92D05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36800" tIns="54000" rIns="0" bIns="54000" anchor="ctr"/>
            <a:lstStyle/>
            <a:p>
              <a:pPr algn="ctr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sz="1800"/>
            </a:p>
          </p:txBody>
        </p:sp>
        <p:sp>
          <p:nvSpPr>
            <p:cNvPr id="89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90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grpSp>
        <p:nvGrpSpPr>
          <p:cNvPr id="65" name="Gruppieren 43"/>
          <p:cNvGrpSpPr>
            <a:grpSpLocks/>
          </p:cNvGrpSpPr>
          <p:nvPr/>
        </p:nvGrpSpPr>
        <p:grpSpPr bwMode="auto">
          <a:xfrm>
            <a:off x="3989388" y="1974555"/>
            <a:ext cx="411162" cy="963613"/>
            <a:chOff x="2151381" y="4773613"/>
            <a:chExt cx="412114" cy="963930"/>
          </a:xfrm>
        </p:grpSpPr>
        <p:sp>
          <p:nvSpPr>
            <p:cNvPr id="69" name="Abgerundetes Rechteck 44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0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36800" tIns="54000" rIns="0" bIns="54000" anchor="ctr"/>
            <a:lstStyle/>
            <a:p>
              <a:pPr algn="ctr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sz="1800"/>
            </a:p>
          </p:txBody>
        </p:sp>
        <p:sp>
          <p:nvSpPr>
            <p:cNvPr id="71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72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344488" y="6356350"/>
            <a:ext cx="682625" cy="231775"/>
          </a:xfrm>
        </p:spPr>
        <p:txBody>
          <a:bodyPr/>
          <a:lstStyle/>
          <a:p>
            <a:pPr>
              <a:defRPr/>
            </a:pPr>
            <a:fld id="{C55ED086-1018-4F43-9103-71F1AD2A0998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sp>
        <p:nvSpPr>
          <p:cNvPr id="7" name="Abgerundetes Rechteck 6"/>
          <p:cNvSpPr/>
          <p:nvPr/>
        </p:nvSpPr>
        <p:spPr bwMode="auto">
          <a:xfrm>
            <a:off x="434975" y="1158875"/>
            <a:ext cx="4360863" cy="2247900"/>
          </a:xfrm>
          <a:prstGeom prst="roundRect">
            <a:avLst>
              <a:gd name="adj" fmla="val 9948"/>
            </a:avLst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dirty="0">
                <a:solidFill>
                  <a:srgbClr val="000000"/>
                </a:solidFill>
              </a:rPr>
              <a:t>Scope</a:t>
            </a:r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 smtClean="0"/>
              <a:t>One diagnostic Tool for Liebherr Machines and Diesel Engines</a:t>
            </a:r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en-US" sz="1600" b="0" dirty="0"/>
          </a:p>
        </p:txBody>
      </p:sp>
      <p:sp>
        <p:nvSpPr>
          <p:cNvPr id="9" name="Abgerundetes Rechteck 8"/>
          <p:cNvSpPr/>
          <p:nvPr/>
        </p:nvSpPr>
        <p:spPr bwMode="auto">
          <a:xfrm>
            <a:off x="5038725" y="1171575"/>
            <a:ext cx="4360863" cy="2247900"/>
          </a:xfrm>
          <a:prstGeom prst="roundRect">
            <a:avLst>
              <a:gd name="adj" fmla="val 9948"/>
            </a:avLst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dirty="0">
                <a:solidFill>
                  <a:srgbClr val="000000"/>
                </a:solidFill>
              </a:rPr>
              <a:t>CTQ’s</a:t>
            </a:r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/>
              <a:t>Intuitive: 	not an engineer tool</a:t>
            </a:r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 smtClean="0"/>
              <a:t>Performance</a:t>
            </a:r>
            <a:r>
              <a:rPr lang="en-US" sz="1200" b="0" dirty="0"/>
              <a:t>:	connection establishment </a:t>
            </a:r>
            <a:r>
              <a:rPr lang="en-US" sz="1200" b="0" dirty="0" smtClean="0"/>
              <a:t>time</a:t>
            </a:r>
            <a:br>
              <a:rPr lang="en-US" sz="1200" b="0" dirty="0" smtClean="0"/>
            </a:br>
            <a:r>
              <a:rPr lang="en-US" sz="1200" b="0" dirty="0"/>
              <a:t>	</a:t>
            </a:r>
            <a:r>
              <a:rPr lang="en-US" sz="1200" b="0" dirty="0" smtClean="0"/>
              <a:t>	oscilloscope sampling rate</a:t>
            </a:r>
            <a:br>
              <a:rPr lang="en-US" sz="1200" b="0" dirty="0" smtClean="0"/>
            </a:br>
            <a:r>
              <a:rPr lang="en-US" sz="1200" b="0" dirty="0" smtClean="0"/>
              <a:t>		quick access to functions</a:t>
            </a:r>
            <a:endParaRPr lang="en-US" sz="1200" b="0" dirty="0"/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/>
              <a:t>Stability:	</a:t>
            </a:r>
            <a:r>
              <a:rPr lang="en-US" sz="1200" b="0" dirty="0" smtClean="0"/>
              <a:t>no freeze</a:t>
            </a:r>
            <a:br>
              <a:rPr lang="en-US" sz="1200" b="0" dirty="0" smtClean="0"/>
            </a:br>
            <a:r>
              <a:rPr lang="en-US" sz="1200" b="0" dirty="0"/>
              <a:t>	</a:t>
            </a:r>
            <a:r>
              <a:rPr lang="en-US" sz="1200" b="0" dirty="0" smtClean="0"/>
              <a:t>	no need of task manager</a:t>
            </a:r>
            <a:endParaRPr lang="en-US" sz="1200" b="0" dirty="0"/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en-US" sz="1600" b="0" dirty="0"/>
          </a:p>
          <a:p>
            <a:pPr>
              <a:spcAft>
                <a:spcPct val="40000"/>
              </a:spcAft>
              <a:buClr>
                <a:schemeClr val="accent1"/>
              </a:buClr>
              <a:defRPr/>
            </a:pPr>
            <a:endParaRPr lang="en-US" sz="1600" b="0" dirty="0"/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en-US" sz="1600" b="0" dirty="0"/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en-US" sz="1600" b="0" dirty="0"/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en-US" sz="1600" b="0" dirty="0"/>
          </a:p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Abgerundetes Rechteck 10"/>
          <p:cNvSpPr/>
          <p:nvPr/>
        </p:nvSpPr>
        <p:spPr bwMode="auto">
          <a:xfrm>
            <a:off x="434975" y="3629025"/>
            <a:ext cx="4360863" cy="2247900"/>
          </a:xfrm>
          <a:prstGeom prst="roundRect">
            <a:avLst>
              <a:gd name="adj" fmla="val 9948"/>
            </a:avLst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dirty="0">
                <a:solidFill>
                  <a:srgbClr val="000000"/>
                </a:solidFill>
              </a:rPr>
              <a:t>Risks</a:t>
            </a:r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 smtClean="0"/>
              <a:t>Sculi 1 is developed in Delphi</a:t>
            </a:r>
          </a:p>
          <a:p>
            <a:pPr marL="800100" lvl="1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/>
              <a:t>Bad architecture</a:t>
            </a:r>
          </a:p>
          <a:p>
            <a:pPr marL="800100" lvl="1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 smtClean="0"/>
              <a:t>Maintenance on Windows 7 !</a:t>
            </a:r>
          </a:p>
          <a:p>
            <a:pPr marL="800100" lvl="1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 smtClean="0"/>
              <a:t>Hard to find qualified persons with Delphi know-how !</a:t>
            </a:r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 smtClean="0"/>
              <a:t>Sculi 2 (light) must be ready for March 2013</a:t>
            </a:r>
            <a:endParaRPr lang="en-US" sz="1200" b="0" dirty="0"/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en-US" sz="1600" b="0" dirty="0"/>
          </a:p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Abgerundetes Rechteck 11"/>
          <p:cNvSpPr/>
          <p:nvPr/>
        </p:nvSpPr>
        <p:spPr bwMode="auto">
          <a:xfrm>
            <a:off x="5038724" y="3641725"/>
            <a:ext cx="4360863" cy="2247900"/>
          </a:xfrm>
          <a:prstGeom prst="roundRect">
            <a:avLst>
              <a:gd name="adj" fmla="val 9948"/>
            </a:avLst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dirty="0">
                <a:solidFill>
                  <a:srgbClr val="000000"/>
                </a:solidFill>
              </a:rPr>
              <a:t>Changes</a:t>
            </a:r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 smtClean="0"/>
              <a:t>Sculi 2 will be developed with Microsoft  </a:t>
            </a:r>
            <a:r>
              <a:rPr lang="en-US" sz="1200" b="0" dirty="0" err="1" smtClean="0"/>
              <a:t>.Net</a:t>
            </a:r>
            <a:r>
              <a:rPr lang="en-US" sz="1200" b="0" dirty="0" smtClean="0"/>
              <a:t>/C#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4103" name="Rectangle 2"/>
          <p:cNvSpPr>
            <a:spLocks noGrp="1" noChangeArrowheads="1"/>
          </p:cNvSpPr>
          <p:nvPr>
            <p:ph type="title"/>
          </p:nvPr>
        </p:nvSpPr>
        <p:spPr>
          <a:xfrm>
            <a:off x="412750" y="361950"/>
            <a:ext cx="9061450" cy="374650"/>
          </a:xfrm>
        </p:spPr>
        <p:txBody>
          <a:bodyPr/>
          <a:lstStyle/>
          <a:p>
            <a:pPr eaLnBrk="1" hangingPunct="1"/>
            <a:r>
              <a:rPr lang="en-US" smtClean="0"/>
              <a:t>Project Status – 6E0022 Sculi</a:t>
            </a:r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LMB | AC-3 | P. Terreaux | Project Status | </a:t>
            </a:r>
            <a:r>
              <a:rPr lang="de-DE" dirty="0" smtClean="0"/>
              <a:t>2012-07-09</a:t>
            </a:r>
            <a:endParaRPr lang="de-DE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EB01B0-35AB-466C-91A1-C457BC7847E0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  <p:graphicFrame>
        <p:nvGraphicFramePr>
          <p:cNvPr id="6" name="Group 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097495"/>
              </p:ext>
            </p:extLst>
          </p:nvPr>
        </p:nvGraphicFramePr>
        <p:xfrm>
          <a:off x="450850" y="1014413"/>
          <a:ext cx="9072563" cy="2335215"/>
        </p:xfrm>
        <a:graphic>
          <a:graphicData uri="http://schemas.openxmlformats.org/drawingml/2006/table">
            <a:tbl>
              <a:tblPr/>
              <a:tblGrid>
                <a:gridCol w="300848"/>
                <a:gridCol w="5684705"/>
                <a:gridCol w="1134966"/>
                <a:gridCol w="976022"/>
                <a:gridCol w="976022"/>
              </a:tblGrid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 Major open issues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Who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Due Date</a:t>
                      </a:r>
                      <a:endParaRPr kumimoji="0" lang="en-GB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Status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SCR Functions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Team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15.06.2012</a:t>
                      </a:r>
                      <a:b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Wingdings" pitchFamily="2" charset="2"/>
                        </a:rPr>
                        <a:t>27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.06.2012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</a:t>
                      </a:r>
                      <a:endParaRPr kumimoji="0" lang="de-DE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Software infrastructure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G. Scheffold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09.07.2012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</a:t>
                      </a:r>
                      <a:endParaRPr kumimoji="0" lang="de-DE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Meeting with Company Product Leads in LWN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P. Terreaux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11.07.2012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</a:t>
                      </a:r>
                      <a:endParaRPr kumimoji="0" lang="de-DE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Integration of PAMS Licenses files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Team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15.07.2012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</a:t>
                      </a:r>
                      <a:endParaRPr kumimoji="0" lang="de-DE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Internal test of Sculi 1.37x</a:t>
                      </a:r>
                      <a:endParaRPr kumimoji="0" lang="en-US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H. Turhal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19.07.2012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Group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321874"/>
              </p:ext>
            </p:extLst>
          </p:nvPr>
        </p:nvGraphicFramePr>
        <p:xfrm>
          <a:off x="450850" y="3800475"/>
          <a:ext cx="9072563" cy="1622426"/>
        </p:xfrm>
        <a:graphic>
          <a:graphicData uri="http://schemas.openxmlformats.org/drawingml/2006/table">
            <a:tbl>
              <a:tblPr/>
              <a:tblGrid>
                <a:gridCol w="300847"/>
                <a:gridCol w="5693271"/>
                <a:gridCol w="1126401"/>
                <a:gridCol w="976022"/>
                <a:gridCol w="976022"/>
              </a:tblGrid>
              <a:tr h="3857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 Decision need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Who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Due Date</a:t>
                      </a:r>
                      <a:endParaRPr kumimoji="0" lang="en-GB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Status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Selling Sontheim J2534 Libraries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S. Wallmueller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20.07.2012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92075" algn="l"/>
                        </a:tabLst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pSp>
        <p:nvGrpSpPr>
          <p:cNvPr id="5199" name="Gruppieren 2"/>
          <p:cNvGrpSpPr>
            <a:grpSpLocks/>
          </p:cNvGrpSpPr>
          <p:nvPr/>
        </p:nvGrpSpPr>
        <p:grpSpPr bwMode="auto">
          <a:xfrm>
            <a:off x="385763" y="5673725"/>
            <a:ext cx="1917700" cy="390525"/>
            <a:chOff x="497466" y="5673321"/>
            <a:chExt cx="1917945" cy="390832"/>
          </a:xfrm>
        </p:grpSpPr>
        <p:sp>
          <p:nvSpPr>
            <p:cNvPr id="5202" name="Textfeld 7"/>
            <p:cNvSpPr txBox="1">
              <a:spLocks noChangeArrowheads="1"/>
            </p:cNvSpPr>
            <p:nvPr/>
          </p:nvSpPr>
          <p:spPr bwMode="auto">
            <a:xfrm>
              <a:off x="1190452" y="5848709"/>
              <a:ext cx="603849" cy="21544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800"/>
                <a:t>planned</a:t>
              </a:r>
            </a:p>
          </p:txBody>
        </p:sp>
        <p:sp>
          <p:nvSpPr>
            <p:cNvPr id="5203" name="Textfeld 8"/>
            <p:cNvSpPr txBox="1">
              <a:spLocks noChangeArrowheads="1"/>
            </p:cNvSpPr>
            <p:nvPr/>
          </p:nvSpPr>
          <p:spPr bwMode="auto">
            <a:xfrm>
              <a:off x="1811562" y="5848709"/>
              <a:ext cx="603849" cy="215444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800"/>
                <a:t>overdue</a:t>
              </a:r>
            </a:p>
          </p:txBody>
        </p:sp>
        <p:sp>
          <p:nvSpPr>
            <p:cNvPr id="5204" name="Textfeld 9"/>
            <p:cNvSpPr txBox="1">
              <a:spLocks noChangeArrowheads="1"/>
            </p:cNvSpPr>
            <p:nvPr/>
          </p:nvSpPr>
          <p:spPr bwMode="auto">
            <a:xfrm>
              <a:off x="569342" y="5848709"/>
              <a:ext cx="603849" cy="21544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800"/>
                <a:t>done</a:t>
              </a:r>
            </a:p>
          </p:txBody>
        </p:sp>
        <p:sp>
          <p:nvSpPr>
            <p:cNvPr id="5205" name="Textfeld 10"/>
            <p:cNvSpPr txBox="1">
              <a:spLocks noChangeArrowheads="1"/>
            </p:cNvSpPr>
            <p:nvPr/>
          </p:nvSpPr>
          <p:spPr bwMode="auto">
            <a:xfrm>
              <a:off x="497466" y="5673321"/>
              <a:ext cx="855449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800"/>
                <a:t>Color Code:</a:t>
              </a:r>
            </a:p>
          </p:txBody>
        </p:sp>
      </p:grpSp>
      <p:sp>
        <p:nvSpPr>
          <p:cNvPr id="1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LMB | AC-3 | P. Terreaux | Project Status </a:t>
            </a:r>
            <a:r>
              <a:rPr lang="de-DE"/>
              <a:t>| </a:t>
            </a:r>
            <a:r>
              <a:rPr lang="de-DE" smtClean="0"/>
              <a:t>2012-07-16</a:t>
            </a:r>
            <a:endParaRPr lang="de-DE" dirty="0"/>
          </a:p>
        </p:txBody>
      </p:sp>
      <p:sp>
        <p:nvSpPr>
          <p:cNvPr id="5201" name="Titel 1"/>
          <p:cNvSpPr>
            <a:spLocks noGrp="1"/>
          </p:cNvSpPr>
          <p:nvPr>
            <p:ph type="title"/>
          </p:nvPr>
        </p:nvSpPr>
        <p:spPr>
          <a:xfrm>
            <a:off x="412750" y="361950"/>
            <a:ext cx="9297988" cy="374650"/>
          </a:xfrm>
        </p:spPr>
        <p:txBody>
          <a:bodyPr/>
          <a:lstStyle/>
          <a:p>
            <a:pPr eaLnBrk="1" hangingPunct="1"/>
            <a:r>
              <a:rPr lang="en-US" smtClean="0"/>
              <a:t>Project Status – 6E0022 Sculi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le 5"/>
          <p:cNvGraphicFramePr>
            <a:graphicFrameLocks noGrp="1"/>
          </p:cNvGraphicFramePr>
          <p:nvPr/>
        </p:nvGraphicFramePr>
        <p:xfrm>
          <a:off x="404813" y="1600200"/>
          <a:ext cx="9031290" cy="4379913"/>
        </p:xfrm>
        <a:graphic>
          <a:graphicData uri="http://schemas.openxmlformats.org/drawingml/2006/table">
            <a:tbl>
              <a:tblPr/>
              <a:tblGrid>
                <a:gridCol w="602086"/>
                <a:gridCol w="602086"/>
                <a:gridCol w="602086"/>
                <a:gridCol w="602086"/>
                <a:gridCol w="602086"/>
                <a:gridCol w="602086"/>
                <a:gridCol w="602086"/>
                <a:gridCol w="602086"/>
                <a:gridCol w="602086"/>
                <a:gridCol w="602086"/>
                <a:gridCol w="602086"/>
                <a:gridCol w="602086"/>
                <a:gridCol w="602086"/>
                <a:gridCol w="602086"/>
                <a:gridCol w="602086"/>
              </a:tblGrid>
              <a:tr h="4379913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AE36B6-4578-4B3C-BD33-029037C0C78B}" type="slidenum">
              <a:rPr lang="de-DE"/>
              <a:pPr>
                <a:defRPr/>
              </a:pPr>
              <a:t>4</a:t>
            </a:fld>
            <a:endParaRPr lang="de-DE" dirty="0"/>
          </a:p>
        </p:txBody>
      </p:sp>
      <p:sp>
        <p:nvSpPr>
          <p:cNvPr id="6181" name="Titel 1"/>
          <p:cNvSpPr>
            <a:spLocks noGrp="1"/>
          </p:cNvSpPr>
          <p:nvPr>
            <p:ph type="title"/>
          </p:nvPr>
        </p:nvSpPr>
        <p:spPr>
          <a:xfrm>
            <a:off x="412750" y="361950"/>
            <a:ext cx="9307513" cy="374650"/>
          </a:xfrm>
        </p:spPr>
        <p:txBody>
          <a:bodyPr/>
          <a:lstStyle/>
          <a:p>
            <a:pPr eaLnBrk="1" hangingPunct="1"/>
            <a:r>
              <a:rPr lang="en-US" smtClean="0"/>
              <a:t>Project Status – 6E0022 Sculi</a:t>
            </a:r>
          </a:p>
        </p:txBody>
      </p:sp>
      <p:graphicFrame>
        <p:nvGraphicFramePr>
          <p:cNvPr id="7" name="Tabelle 6"/>
          <p:cNvGraphicFramePr>
            <a:graphicFrameLocks noGrp="1"/>
          </p:cNvGraphicFramePr>
          <p:nvPr/>
        </p:nvGraphicFramePr>
        <p:xfrm>
          <a:off x="407988" y="995363"/>
          <a:ext cx="9034455" cy="614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297"/>
                <a:gridCol w="602297"/>
                <a:gridCol w="602297"/>
                <a:gridCol w="602297"/>
                <a:gridCol w="602297"/>
                <a:gridCol w="602297"/>
                <a:gridCol w="602297"/>
                <a:gridCol w="602297"/>
                <a:gridCol w="602297"/>
                <a:gridCol w="602297"/>
                <a:gridCol w="602297"/>
                <a:gridCol w="602297"/>
                <a:gridCol w="602297"/>
                <a:gridCol w="602297"/>
                <a:gridCol w="602297"/>
              </a:tblGrid>
              <a:tr h="370585">
                <a:tc gridSpan="10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2012</a:t>
                      </a:r>
                      <a:endParaRPr lang="en-US" sz="1800" dirty="0"/>
                    </a:p>
                  </a:txBody>
                  <a:tcPr marL="91427" marR="91427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2013</a:t>
                      </a:r>
                      <a:endParaRPr lang="en-US" sz="1800" dirty="0"/>
                    </a:p>
                  </a:txBody>
                  <a:tcPr marL="91427" marR="91427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24377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6219" name="Gruppieren 7167"/>
          <p:cNvGrpSpPr>
            <a:grpSpLocks/>
          </p:cNvGrpSpPr>
          <p:nvPr/>
        </p:nvGrpSpPr>
        <p:grpSpPr bwMode="auto">
          <a:xfrm>
            <a:off x="2060439" y="1341438"/>
            <a:ext cx="276225" cy="4618037"/>
            <a:chOff x="956999" y="1325581"/>
            <a:chExt cx="276045" cy="4618019"/>
          </a:xfrm>
        </p:grpSpPr>
        <p:cxnSp>
          <p:nvCxnSpPr>
            <p:cNvPr id="6259" name="Gerade Verbindung 8"/>
            <p:cNvCxnSpPr>
              <a:cxnSpLocks noChangeShapeType="1"/>
              <a:stCxn id="6260" idx="0"/>
            </p:cNvCxnSpPr>
            <p:nvPr/>
          </p:nvCxnSpPr>
          <p:spPr bwMode="auto">
            <a:xfrm>
              <a:off x="1095021" y="1515362"/>
              <a:ext cx="14224" cy="4428238"/>
            </a:xfrm>
            <a:prstGeom prst="line">
              <a:avLst/>
            </a:prstGeom>
            <a:noFill/>
            <a:ln w="28575" algn="ctr">
              <a:solidFill>
                <a:srgbClr val="3366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260" name="Gleichschenkliges Dreieck 14"/>
            <p:cNvSpPr>
              <a:spLocks noChangeArrowheads="1"/>
            </p:cNvSpPr>
            <p:nvPr/>
          </p:nvSpPr>
          <p:spPr bwMode="auto">
            <a:xfrm rot="10800000">
              <a:off x="956999" y="1325581"/>
              <a:ext cx="276045" cy="189781"/>
            </a:xfrm>
            <a:prstGeom prst="triangle">
              <a:avLst>
                <a:gd name="adj" fmla="val 50000"/>
              </a:avLst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sp>
        <p:nvSpPr>
          <p:cNvPr id="6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LMB | AC-3 | P. Terreaux | Project Status | </a:t>
            </a:r>
            <a:r>
              <a:rPr lang="de-DE" dirty="0" smtClean="0"/>
              <a:t>2012-07-09</a:t>
            </a:r>
            <a:endParaRPr lang="de-DE" dirty="0"/>
          </a:p>
        </p:txBody>
      </p:sp>
      <p:sp>
        <p:nvSpPr>
          <p:cNvPr id="2" name="Rechteck 1"/>
          <p:cNvSpPr/>
          <p:nvPr/>
        </p:nvSpPr>
        <p:spPr bwMode="auto">
          <a:xfrm>
            <a:off x="3409950" y="1600200"/>
            <a:ext cx="339725" cy="43592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de-DE"/>
          </a:p>
        </p:txBody>
      </p:sp>
      <p:sp>
        <p:nvSpPr>
          <p:cNvPr id="38" name="Rechteck 37"/>
          <p:cNvSpPr/>
          <p:nvPr/>
        </p:nvSpPr>
        <p:spPr bwMode="auto">
          <a:xfrm>
            <a:off x="6237288" y="1598613"/>
            <a:ext cx="341312" cy="43592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de-DE"/>
          </a:p>
        </p:txBody>
      </p:sp>
      <p:sp>
        <p:nvSpPr>
          <p:cNvPr id="25" name="Abgerundetes Rechteck 24"/>
          <p:cNvSpPr/>
          <p:nvPr/>
        </p:nvSpPr>
        <p:spPr bwMode="auto">
          <a:xfrm>
            <a:off x="7691957" y="4831231"/>
            <a:ext cx="654509" cy="327621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700" dirty="0" smtClean="0"/>
              <a:t>Reserved</a:t>
            </a:r>
            <a:endParaRPr lang="en-US" sz="500" dirty="0"/>
          </a:p>
        </p:txBody>
      </p:sp>
      <p:grpSp>
        <p:nvGrpSpPr>
          <p:cNvPr id="6226" name="Gruppieren 2"/>
          <p:cNvGrpSpPr>
            <a:grpSpLocks/>
          </p:cNvGrpSpPr>
          <p:nvPr/>
        </p:nvGrpSpPr>
        <p:grpSpPr bwMode="auto">
          <a:xfrm>
            <a:off x="7282754" y="4399931"/>
            <a:ext cx="887412" cy="719137"/>
            <a:chOff x="9140697" y="3387420"/>
            <a:chExt cx="516499" cy="719518"/>
          </a:xfrm>
        </p:grpSpPr>
        <p:sp>
          <p:nvSpPr>
            <p:cNvPr id="6257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6258" name="Textfeld 1"/>
            <p:cNvSpPr txBox="1">
              <a:spLocks noChangeArrowheads="1"/>
            </p:cNvSpPr>
            <p:nvPr/>
          </p:nvSpPr>
          <p:spPr bwMode="auto">
            <a:xfrm>
              <a:off x="9140697" y="3387420"/>
              <a:ext cx="516499" cy="338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800" dirty="0" smtClean="0"/>
                <a:t>Sculi 2.0</a:t>
              </a:r>
              <a:br>
                <a:rPr lang="en-US" sz="800" dirty="0" smtClean="0"/>
              </a:br>
              <a:r>
                <a:rPr lang="en-US" sz="800" dirty="0" smtClean="0"/>
                <a:t> RC</a:t>
              </a:r>
              <a:endParaRPr lang="en-US" sz="800" dirty="0"/>
            </a:p>
          </p:txBody>
        </p:sp>
      </p:grpSp>
      <p:sp>
        <p:nvSpPr>
          <p:cNvPr id="26" name="Abgerundetes Rechteck 25"/>
          <p:cNvSpPr/>
          <p:nvPr/>
        </p:nvSpPr>
        <p:spPr bwMode="auto">
          <a:xfrm>
            <a:off x="266700" y="1730375"/>
            <a:ext cx="1930401" cy="239385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/>
              <a:t>Scope </a:t>
            </a:r>
            <a:r>
              <a:rPr lang="en-US" sz="1000" dirty="0" smtClean="0"/>
              <a:t>Definition of Sculi 2.0</a:t>
            </a:r>
            <a:endParaRPr lang="en-US" sz="800" dirty="0"/>
          </a:p>
        </p:txBody>
      </p:sp>
      <p:grpSp>
        <p:nvGrpSpPr>
          <p:cNvPr id="6228" name="Gruppieren 7168"/>
          <p:cNvGrpSpPr>
            <a:grpSpLocks/>
          </p:cNvGrpSpPr>
          <p:nvPr/>
        </p:nvGrpSpPr>
        <p:grpSpPr bwMode="auto">
          <a:xfrm>
            <a:off x="2103438" y="1593851"/>
            <a:ext cx="647700" cy="380999"/>
            <a:chOff x="1008661" y="1683506"/>
            <a:chExt cx="647613" cy="381688"/>
          </a:xfrm>
        </p:grpSpPr>
        <p:sp>
          <p:nvSpPr>
            <p:cNvPr id="6255" name="Raute 12"/>
            <p:cNvSpPr>
              <a:spLocks noChangeArrowheads="1"/>
            </p:cNvSpPr>
            <p:nvPr/>
          </p:nvSpPr>
          <p:spPr bwMode="auto">
            <a:xfrm>
              <a:off x="1008661" y="1819247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6256" name="Textfeld 28"/>
            <p:cNvSpPr txBox="1">
              <a:spLocks noChangeArrowheads="1"/>
            </p:cNvSpPr>
            <p:nvPr/>
          </p:nvSpPr>
          <p:spPr bwMode="auto">
            <a:xfrm>
              <a:off x="1073599" y="1683506"/>
              <a:ext cx="582675" cy="262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/>
                <a:t>cw22</a:t>
              </a:r>
            </a:p>
          </p:txBody>
        </p:sp>
      </p:grpSp>
      <p:grpSp>
        <p:nvGrpSpPr>
          <p:cNvPr id="6234" name="Gruppieren 2"/>
          <p:cNvGrpSpPr>
            <a:grpSpLocks/>
          </p:cNvGrpSpPr>
          <p:nvPr/>
        </p:nvGrpSpPr>
        <p:grpSpPr bwMode="auto">
          <a:xfrm>
            <a:off x="7902760" y="4399931"/>
            <a:ext cx="887412" cy="728243"/>
            <a:chOff x="9140697" y="3377890"/>
            <a:chExt cx="516499" cy="729049"/>
          </a:xfrm>
        </p:grpSpPr>
        <p:sp>
          <p:nvSpPr>
            <p:cNvPr id="6249" name="Raute 18"/>
            <p:cNvSpPr>
              <a:spLocks noChangeArrowheads="1"/>
            </p:cNvSpPr>
            <p:nvPr/>
          </p:nvSpPr>
          <p:spPr bwMode="auto">
            <a:xfrm>
              <a:off x="9324070" y="3860992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6250" name="Textfeld 1"/>
            <p:cNvSpPr txBox="1">
              <a:spLocks noChangeArrowheads="1"/>
            </p:cNvSpPr>
            <p:nvPr/>
          </p:nvSpPr>
          <p:spPr bwMode="auto">
            <a:xfrm>
              <a:off x="9140697" y="3377890"/>
              <a:ext cx="516499" cy="431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 smtClean="0"/>
                <a:t>Sculi 2.0 Released</a:t>
              </a:r>
              <a:endParaRPr lang="en-US" sz="1100" dirty="0"/>
            </a:p>
          </p:txBody>
        </p:sp>
      </p:grpSp>
      <p:grpSp>
        <p:nvGrpSpPr>
          <p:cNvPr id="6238" name="Gruppieren 2"/>
          <p:cNvGrpSpPr>
            <a:grpSpLocks/>
          </p:cNvGrpSpPr>
          <p:nvPr/>
        </p:nvGrpSpPr>
        <p:grpSpPr bwMode="auto">
          <a:xfrm>
            <a:off x="6578600" y="5126038"/>
            <a:ext cx="887413" cy="776287"/>
            <a:chOff x="9140697" y="3330240"/>
            <a:chExt cx="516499" cy="776698"/>
          </a:xfrm>
        </p:grpSpPr>
        <p:sp>
          <p:nvSpPr>
            <p:cNvPr id="6241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3333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6242" name="Textfeld 1"/>
            <p:cNvSpPr txBox="1">
              <a:spLocks noChangeArrowheads="1"/>
            </p:cNvSpPr>
            <p:nvPr/>
          </p:nvSpPr>
          <p:spPr bwMode="auto">
            <a:xfrm>
              <a:off x="9140697" y="3330240"/>
              <a:ext cx="516499" cy="600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/>
                <a:t>Stage 4 </a:t>
              </a:r>
              <a:br>
                <a:rPr lang="en-US" sz="1100"/>
              </a:br>
              <a:r>
                <a:rPr lang="en-US" sz="1100"/>
                <a:t>D-Sample Engines</a:t>
              </a:r>
            </a:p>
          </p:txBody>
        </p:sp>
      </p:grpSp>
      <p:sp>
        <p:nvSpPr>
          <p:cNvPr id="6239" name="Raute 18"/>
          <p:cNvSpPr>
            <a:spLocks noChangeArrowheads="1"/>
          </p:cNvSpPr>
          <p:nvPr/>
        </p:nvSpPr>
        <p:spPr bwMode="auto">
          <a:xfrm>
            <a:off x="3886200" y="5657850"/>
            <a:ext cx="257175" cy="244475"/>
          </a:xfrm>
          <a:prstGeom prst="diamond">
            <a:avLst/>
          </a:prstGeom>
          <a:solidFill>
            <a:srgbClr val="3333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</a:pPr>
            <a:endParaRPr lang="en-US"/>
          </a:p>
        </p:txBody>
      </p:sp>
      <p:sp>
        <p:nvSpPr>
          <p:cNvPr id="6240" name="Textfeld 1"/>
          <p:cNvSpPr txBox="1">
            <a:spLocks noChangeArrowheads="1"/>
          </p:cNvSpPr>
          <p:nvPr/>
        </p:nvSpPr>
        <p:spPr bwMode="auto">
          <a:xfrm>
            <a:off x="3571875" y="5126038"/>
            <a:ext cx="887413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en-US" sz="1100"/>
              <a:t>Stage 4 </a:t>
            </a:r>
            <a:br>
              <a:rPr lang="en-US" sz="1100"/>
            </a:br>
            <a:r>
              <a:rPr lang="en-US" sz="1100"/>
              <a:t>B-Sample Engines</a:t>
            </a:r>
          </a:p>
        </p:txBody>
      </p:sp>
      <p:grpSp>
        <p:nvGrpSpPr>
          <p:cNvPr id="51" name="Gruppieren 2"/>
          <p:cNvGrpSpPr>
            <a:grpSpLocks/>
          </p:cNvGrpSpPr>
          <p:nvPr/>
        </p:nvGrpSpPr>
        <p:grpSpPr bwMode="auto">
          <a:xfrm>
            <a:off x="6911951" y="4399931"/>
            <a:ext cx="887412" cy="719137"/>
            <a:chOff x="9140697" y="3387420"/>
            <a:chExt cx="516499" cy="719518"/>
          </a:xfrm>
        </p:grpSpPr>
        <p:sp>
          <p:nvSpPr>
            <p:cNvPr id="52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53" name="Textfeld 1"/>
            <p:cNvSpPr txBox="1">
              <a:spLocks noChangeArrowheads="1"/>
            </p:cNvSpPr>
            <p:nvPr/>
          </p:nvSpPr>
          <p:spPr bwMode="auto">
            <a:xfrm>
              <a:off x="9140697" y="3387420"/>
              <a:ext cx="516499" cy="338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800" dirty="0" smtClean="0"/>
                <a:t>Sculi 2.0</a:t>
              </a:r>
              <a:br>
                <a:rPr lang="en-US" sz="800" dirty="0" smtClean="0"/>
              </a:br>
              <a:r>
                <a:rPr lang="en-US" sz="800" dirty="0" smtClean="0"/>
                <a:t> Beta</a:t>
              </a:r>
              <a:endParaRPr lang="en-US" sz="800" dirty="0"/>
            </a:p>
          </p:txBody>
        </p:sp>
      </p:grpSp>
      <p:grpSp>
        <p:nvGrpSpPr>
          <p:cNvPr id="54" name="Gruppieren 2"/>
          <p:cNvGrpSpPr>
            <a:grpSpLocks/>
          </p:cNvGrpSpPr>
          <p:nvPr/>
        </p:nvGrpSpPr>
        <p:grpSpPr bwMode="auto">
          <a:xfrm>
            <a:off x="4371731" y="4399931"/>
            <a:ext cx="887412" cy="719137"/>
            <a:chOff x="9140697" y="3387420"/>
            <a:chExt cx="516499" cy="719518"/>
          </a:xfrm>
        </p:grpSpPr>
        <p:sp>
          <p:nvSpPr>
            <p:cNvPr id="55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56" name="Textfeld 1"/>
            <p:cNvSpPr txBox="1">
              <a:spLocks noChangeArrowheads="1"/>
            </p:cNvSpPr>
            <p:nvPr/>
          </p:nvSpPr>
          <p:spPr bwMode="auto">
            <a:xfrm>
              <a:off x="9140697" y="3387420"/>
              <a:ext cx="516499" cy="400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000" dirty="0" smtClean="0"/>
                <a:t>Sculi 2.0 Alpha 1</a:t>
              </a:r>
              <a:endParaRPr lang="en-US" sz="1000" dirty="0"/>
            </a:p>
          </p:txBody>
        </p:sp>
      </p:grpSp>
      <p:grpSp>
        <p:nvGrpSpPr>
          <p:cNvPr id="57" name="Gruppieren 2"/>
          <p:cNvGrpSpPr>
            <a:grpSpLocks/>
          </p:cNvGrpSpPr>
          <p:nvPr/>
        </p:nvGrpSpPr>
        <p:grpSpPr bwMode="auto">
          <a:xfrm>
            <a:off x="5249303" y="4399931"/>
            <a:ext cx="887412" cy="719137"/>
            <a:chOff x="9140697" y="3387420"/>
            <a:chExt cx="516499" cy="719518"/>
          </a:xfrm>
        </p:grpSpPr>
        <p:sp>
          <p:nvSpPr>
            <p:cNvPr id="58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59" name="Textfeld 1"/>
            <p:cNvSpPr txBox="1">
              <a:spLocks noChangeArrowheads="1"/>
            </p:cNvSpPr>
            <p:nvPr/>
          </p:nvSpPr>
          <p:spPr bwMode="auto">
            <a:xfrm>
              <a:off x="9140697" y="3387420"/>
              <a:ext cx="516499" cy="400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000" dirty="0" smtClean="0"/>
                <a:t>Sculi 2.0 Alpha 2</a:t>
              </a:r>
              <a:endParaRPr lang="en-US" sz="1000" dirty="0"/>
            </a:p>
          </p:txBody>
        </p:sp>
      </p:grpSp>
      <p:grpSp>
        <p:nvGrpSpPr>
          <p:cNvPr id="60" name="Gruppieren 2"/>
          <p:cNvGrpSpPr>
            <a:grpSpLocks/>
          </p:cNvGrpSpPr>
          <p:nvPr/>
        </p:nvGrpSpPr>
        <p:grpSpPr bwMode="auto">
          <a:xfrm>
            <a:off x="6194493" y="4399931"/>
            <a:ext cx="887412" cy="719137"/>
            <a:chOff x="9140697" y="3387420"/>
            <a:chExt cx="516499" cy="719518"/>
          </a:xfrm>
        </p:grpSpPr>
        <p:sp>
          <p:nvSpPr>
            <p:cNvPr id="61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62" name="Textfeld 1"/>
            <p:cNvSpPr txBox="1">
              <a:spLocks noChangeArrowheads="1"/>
            </p:cNvSpPr>
            <p:nvPr/>
          </p:nvSpPr>
          <p:spPr bwMode="auto">
            <a:xfrm>
              <a:off x="9140697" y="3387420"/>
              <a:ext cx="516499" cy="400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000" dirty="0" smtClean="0"/>
                <a:t>Sculi 2.0 Alpha 3</a:t>
              </a:r>
              <a:endParaRPr lang="en-US" sz="1000" dirty="0"/>
            </a:p>
          </p:txBody>
        </p:sp>
      </p:grpSp>
      <p:sp>
        <p:nvSpPr>
          <p:cNvPr id="64" name="Abgerundetes Rechteck 25"/>
          <p:cNvSpPr/>
          <p:nvPr/>
        </p:nvSpPr>
        <p:spPr bwMode="auto">
          <a:xfrm>
            <a:off x="2863969" y="2080745"/>
            <a:ext cx="1970775" cy="286389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 smtClean="0"/>
              <a:t>Information Screen</a:t>
            </a:r>
            <a:endParaRPr lang="en-US" sz="800" dirty="0"/>
          </a:p>
        </p:txBody>
      </p:sp>
      <p:grpSp>
        <p:nvGrpSpPr>
          <p:cNvPr id="6230" name="Gruppieren 7168"/>
          <p:cNvGrpSpPr>
            <a:grpSpLocks/>
          </p:cNvGrpSpPr>
          <p:nvPr/>
        </p:nvGrpSpPr>
        <p:grpSpPr bwMode="auto">
          <a:xfrm>
            <a:off x="4706214" y="1966792"/>
            <a:ext cx="647700" cy="385763"/>
            <a:chOff x="1008661" y="1679561"/>
            <a:chExt cx="647613" cy="385633"/>
          </a:xfrm>
        </p:grpSpPr>
        <p:sp>
          <p:nvSpPr>
            <p:cNvPr id="6251" name="Raute 12"/>
            <p:cNvSpPr>
              <a:spLocks noChangeArrowheads="1"/>
            </p:cNvSpPr>
            <p:nvPr/>
          </p:nvSpPr>
          <p:spPr bwMode="auto">
            <a:xfrm>
              <a:off x="1008661" y="1819247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6252" name="Textfeld 28"/>
            <p:cNvSpPr txBox="1">
              <a:spLocks noChangeArrowheads="1"/>
            </p:cNvSpPr>
            <p:nvPr/>
          </p:nvSpPr>
          <p:spPr bwMode="auto">
            <a:xfrm>
              <a:off x="1073599" y="1679561"/>
              <a:ext cx="582675" cy="262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 smtClean="0"/>
                <a:t>cw41</a:t>
              </a:r>
              <a:endParaRPr lang="en-US" sz="1100" dirty="0"/>
            </a:p>
          </p:txBody>
        </p:sp>
      </p:grpSp>
      <p:sp>
        <p:nvSpPr>
          <p:cNvPr id="65" name="Abgerundetes Rechteck 25"/>
          <p:cNvSpPr/>
          <p:nvPr/>
        </p:nvSpPr>
        <p:spPr bwMode="auto">
          <a:xfrm>
            <a:off x="4839397" y="2436143"/>
            <a:ext cx="868871" cy="372374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 smtClean="0"/>
              <a:t>Read Messages</a:t>
            </a:r>
            <a:endParaRPr lang="en-US" sz="800" dirty="0"/>
          </a:p>
        </p:txBody>
      </p:sp>
      <p:sp>
        <p:nvSpPr>
          <p:cNvPr id="66" name="Abgerundetes Rechteck 25"/>
          <p:cNvSpPr/>
          <p:nvPr/>
        </p:nvSpPr>
        <p:spPr bwMode="auto">
          <a:xfrm>
            <a:off x="5313149" y="2988509"/>
            <a:ext cx="1316424" cy="239385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 smtClean="0"/>
              <a:t>Read Variables</a:t>
            </a:r>
            <a:endParaRPr lang="en-US" sz="800" dirty="0"/>
          </a:p>
        </p:txBody>
      </p:sp>
      <p:sp>
        <p:nvSpPr>
          <p:cNvPr id="67" name="Abgerundetes Rechteck 25"/>
          <p:cNvSpPr/>
          <p:nvPr/>
        </p:nvSpPr>
        <p:spPr bwMode="auto">
          <a:xfrm>
            <a:off x="6194493" y="3407887"/>
            <a:ext cx="1168644" cy="337460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 smtClean="0"/>
              <a:t>Oscilloscope</a:t>
            </a:r>
            <a:endParaRPr lang="en-US" sz="800" dirty="0"/>
          </a:p>
        </p:txBody>
      </p:sp>
      <p:sp>
        <p:nvSpPr>
          <p:cNvPr id="68" name="Abgerundetes Rechteck 25"/>
          <p:cNvSpPr/>
          <p:nvPr/>
        </p:nvSpPr>
        <p:spPr bwMode="auto">
          <a:xfrm>
            <a:off x="7081906" y="3810204"/>
            <a:ext cx="641404" cy="313222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 smtClean="0"/>
              <a:t>PAMS</a:t>
            </a:r>
            <a:endParaRPr lang="en-US" sz="800" dirty="0"/>
          </a:p>
        </p:txBody>
      </p:sp>
      <p:grpSp>
        <p:nvGrpSpPr>
          <p:cNvPr id="6229" name="Gruppieren 7168"/>
          <p:cNvGrpSpPr>
            <a:grpSpLocks/>
          </p:cNvGrpSpPr>
          <p:nvPr/>
        </p:nvGrpSpPr>
        <p:grpSpPr bwMode="auto">
          <a:xfrm>
            <a:off x="5618290" y="2375760"/>
            <a:ext cx="647700" cy="381000"/>
            <a:chOff x="1008661" y="1683505"/>
            <a:chExt cx="647613" cy="381689"/>
          </a:xfrm>
        </p:grpSpPr>
        <p:sp>
          <p:nvSpPr>
            <p:cNvPr id="6253" name="Textfeld 28"/>
            <p:cNvSpPr txBox="1">
              <a:spLocks noChangeArrowheads="1"/>
            </p:cNvSpPr>
            <p:nvPr/>
          </p:nvSpPr>
          <p:spPr bwMode="auto">
            <a:xfrm>
              <a:off x="1073599" y="1683505"/>
              <a:ext cx="582675" cy="262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 smtClean="0"/>
                <a:t>cw48</a:t>
              </a:r>
              <a:endParaRPr lang="en-US" sz="1100" dirty="0"/>
            </a:p>
          </p:txBody>
        </p:sp>
        <p:sp>
          <p:nvSpPr>
            <p:cNvPr id="6254" name="Raute 12"/>
            <p:cNvSpPr>
              <a:spLocks noChangeArrowheads="1"/>
            </p:cNvSpPr>
            <p:nvPr/>
          </p:nvSpPr>
          <p:spPr bwMode="auto">
            <a:xfrm>
              <a:off x="1008661" y="1819247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grpSp>
        <p:nvGrpSpPr>
          <p:cNvPr id="6235" name="Gruppieren 7168"/>
          <p:cNvGrpSpPr>
            <a:grpSpLocks/>
          </p:cNvGrpSpPr>
          <p:nvPr/>
        </p:nvGrpSpPr>
        <p:grpSpPr bwMode="auto">
          <a:xfrm>
            <a:off x="6528976" y="2838322"/>
            <a:ext cx="647700" cy="381000"/>
            <a:chOff x="1008661" y="1683505"/>
            <a:chExt cx="647613" cy="381689"/>
          </a:xfrm>
        </p:grpSpPr>
        <p:sp>
          <p:nvSpPr>
            <p:cNvPr id="6248" name="Raute 12"/>
            <p:cNvSpPr>
              <a:spLocks noChangeArrowheads="1"/>
            </p:cNvSpPr>
            <p:nvPr/>
          </p:nvSpPr>
          <p:spPr bwMode="auto">
            <a:xfrm>
              <a:off x="1008661" y="1819247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6247" name="Textfeld 28"/>
            <p:cNvSpPr txBox="1">
              <a:spLocks noChangeArrowheads="1"/>
            </p:cNvSpPr>
            <p:nvPr/>
          </p:nvSpPr>
          <p:spPr bwMode="auto">
            <a:xfrm>
              <a:off x="1073599" y="1683505"/>
              <a:ext cx="582675" cy="262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 smtClean="0"/>
                <a:t>cw03</a:t>
              </a:r>
              <a:endParaRPr lang="en-US" sz="1100" dirty="0"/>
            </a:p>
          </p:txBody>
        </p:sp>
      </p:grpSp>
      <p:grpSp>
        <p:nvGrpSpPr>
          <p:cNvPr id="6236" name="Gruppieren 7168"/>
          <p:cNvGrpSpPr>
            <a:grpSpLocks/>
          </p:cNvGrpSpPr>
          <p:nvPr/>
        </p:nvGrpSpPr>
        <p:grpSpPr bwMode="auto">
          <a:xfrm>
            <a:off x="7255060" y="3304959"/>
            <a:ext cx="647700" cy="381000"/>
            <a:chOff x="1008661" y="1683505"/>
            <a:chExt cx="647613" cy="381689"/>
          </a:xfrm>
        </p:grpSpPr>
        <p:sp>
          <p:nvSpPr>
            <p:cNvPr id="6245" name="Textfeld 28"/>
            <p:cNvSpPr txBox="1">
              <a:spLocks noChangeArrowheads="1"/>
            </p:cNvSpPr>
            <p:nvPr/>
          </p:nvSpPr>
          <p:spPr bwMode="auto">
            <a:xfrm>
              <a:off x="1073599" y="1683505"/>
              <a:ext cx="582675" cy="262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 smtClean="0"/>
                <a:t>cw08</a:t>
              </a:r>
              <a:endParaRPr lang="en-US" sz="1100" dirty="0"/>
            </a:p>
          </p:txBody>
        </p:sp>
        <p:sp>
          <p:nvSpPr>
            <p:cNvPr id="6246" name="Raute 12"/>
            <p:cNvSpPr>
              <a:spLocks noChangeArrowheads="1"/>
            </p:cNvSpPr>
            <p:nvPr/>
          </p:nvSpPr>
          <p:spPr bwMode="auto">
            <a:xfrm>
              <a:off x="1008661" y="1819247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grpSp>
        <p:nvGrpSpPr>
          <p:cNvPr id="6237" name="Gruppieren 7168"/>
          <p:cNvGrpSpPr>
            <a:grpSpLocks/>
          </p:cNvGrpSpPr>
          <p:nvPr/>
        </p:nvGrpSpPr>
        <p:grpSpPr bwMode="auto">
          <a:xfrm>
            <a:off x="7611383" y="3706153"/>
            <a:ext cx="647700" cy="381000"/>
            <a:chOff x="1008661" y="1683505"/>
            <a:chExt cx="647613" cy="381689"/>
          </a:xfrm>
        </p:grpSpPr>
        <p:sp>
          <p:nvSpPr>
            <p:cNvPr id="6243" name="Textfeld 28"/>
            <p:cNvSpPr txBox="1">
              <a:spLocks noChangeArrowheads="1"/>
            </p:cNvSpPr>
            <p:nvPr/>
          </p:nvSpPr>
          <p:spPr bwMode="auto">
            <a:xfrm>
              <a:off x="1073599" y="1683505"/>
              <a:ext cx="582675" cy="262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 smtClean="0"/>
                <a:t>cw12</a:t>
              </a:r>
              <a:endParaRPr lang="en-US" sz="1100" dirty="0"/>
            </a:p>
          </p:txBody>
        </p:sp>
        <p:sp>
          <p:nvSpPr>
            <p:cNvPr id="6244" name="Raute 12"/>
            <p:cNvSpPr>
              <a:spLocks noChangeArrowheads="1"/>
            </p:cNvSpPr>
            <p:nvPr/>
          </p:nvSpPr>
          <p:spPr bwMode="auto">
            <a:xfrm>
              <a:off x="1008661" y="1819247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FF8023-8B1F-40E3-AC5B-2AC76479DBE1}" type="slidenum">
              <a:rPr lang="de-DE"/>
              <a:pPr>
                <a:defRPr/>
              </a:pPr>
              <a:t>5</a:t>
            </a:fld>
            <a:endParaRPr lang="de-DE"/>
          </a:p>
        </p:txBody>
      </p:sp>
      <p:sp>
        <p:nvSpPr>
          <p:cNvPr id="7171" name="Titel 1"/>
          <p:cNvSpPr>
            <a:spLocks noGrp="1"/>
          </p:cNvSpPr>
          <p:nvPr>
            <p:ph type="title"/>
          </p:nvPr>
        </p:nvSpPr>
        <p:spPr>
          <a:xfrm>
            <a:off x="412750" y="361950"/>
            <a:ext cx="9307513" cy="374650"/>
          </a:xfrm>
        </p:spPr>
        <p:txBody>
          <a:bodyPr/>
          <a:lstStyle/>
          <a:p>
            <a:pPr eaLnBrk="1" hangingPunct="1"/>
            <a:r>
              <a:rPr lang="en-US" smtClean="0"/>
              <a:t>Project Status – 6E0022 Sculi</a:t>
            </a:r>
          </a:p>
        </p:txBody>
      </p:sp>
      <p:graphicFrame>
        <p:nvGraphicFramePr>
          <p:cNvPr id="6" name="Tabelle 5"/>
          <p:cNvGraphicFramePr>
            <a:graphicFrameLocks noGrp="1"/>
          </p:cNvGraphicFramePr>
          <p:nvPr/>
        </p:nvGraphicFramePr>
        <p:xfrm>
          <a:off x="404813" y="1709738"/>
          <a:ext cx="9031290" cy="4270375"/>
        </p:xfrm>
        <a:graphic>
          <a:graphicData uri="http://schemas.openxmlformats.org/drawingml/2006/table">
            <a:tbl>
              <a:tblPr/>
              <a:tblGrid>
                <a:gridCol w="566737"/>
                <a:gridCol w="571500"/>
                <a:gridCol w="561975"/>
                <a:gridCol w="561975"/>
                <a:gridCol w="523875"/>
                <a:gridCol w="571500"/>
                <a:gridCol w="571500"/>
                <a:gridCol w="561975"/>
                <a:gridCol w="581025"/>
                <a:gridCol w="561975"/>
                <a:gridCol w="561975"/>
                <a:gridCol w="561975"/>
                <a:gridCol w="581025"/>
                <a:gridCol w="551089"/>
                <a:gridCol w="595890"/>
                <a:gridCol w="545299"/>
              </a:tblGrid>
              <a:tr h="427037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elle 6"/>
          <p:cNvGraphicFramePr>
            <a:graphicFrameLocks noGrp="1"/>
          </p:cNvGraphicFramePr>
          <p:nvPr/>
        </p:nvGraphicFramePr>
        <p:xfrm>
          <a:off x="407988" y="995363"/>
          <a:ext cx="9029706" cy="614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66"/>
                <a:gridCol w="567066"/>
                <a:gridCol w="567066"/>
                <a:gridCol w="567066"/>
                <a:gridCol w="523716"/>
                <a:gridCol w="567066"/>
                <a:gridCol w="567066"/>
                <a:gridCol w="567066"/>
                <a:gridCol w="567066"/>
                <a:gridCol w="567066"/>
                <a:gridCol w="567066"/>
                <a:gridCol w="567066"/>
                <a:gridCol w="567066"/>
                <a:gridCol w="567066"/>
                <a:gridCol w="567066"/>
                <a:gridCol w="567066"/>
              </a:tblGrid>
              <a:tr h="37058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2012</a:t>
                      </a:r>
                      <a:endParaRPr lang="en-US" sz="1800" dirty="0"/>
                    </a:p>
                  </a:txBody>
                  <a:tcPr marL="91425" marR="91425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2013</a:t>
                      </a:r>
                      <a:endParaRPr lang="en-US" sz="1800" dirty="0"/>
                    </a:p>
                  </a:txBody>
                  <a:tcPr marL="91425" marR="91425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33669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2014</a:t>
                      </a:r>
                      <a:endParaRPr lang="en-US" sz="1800" dirty="0"/>
                    </a:p>
                  </a:txBody>
                  <a:tcPr marL="91425" marR="91425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27" marR="91427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27" marR="91427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27" marR="91427" marT="45689" marB="45689">
                    <a:solidFill>
                      <a:srgbClr val="33669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2015</a:t>
                      </a:r>
                      <a:endParaRPr lang="en-US" sz="1800" dirty="0"/>
                    </a:p>
                  </a:txBody>
                  <a:tcPr marL="91425" marR="91425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27" marR="91427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27" marR="91427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27" marR="91427" marT="45689" marB="45689">
                    <a:solidFill>
                      <a:srgbClr val="336699"/>
                    </a:solidFill>
                  </a:tcPr>
                </a:tc>
              </a:tr>
              <a:tr h="24377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Q1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Q2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Q3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Q4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Q1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Q2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Q3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Q4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Q1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Q2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Q3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Q4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Q1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Q2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Q3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Q4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7249" name="Gruppieren 7167"/>
          <p:cNvGrpSpPr>
            <a:grpSpLocks/>
          </p:cNvGrpSpPr>
          <p:nvPr/>
        </p:nvGrpSpPr>
        <p:grpSpPr bwMode="auto">
          <a:xfrm>
            <a:off x="1382713" y="1335882"/>
            <a:ext cx="276225" cy="4618037"/>
            <a:chOff x="956999" y="1325581"/>
            <a:chExt cx="276045" cy="4618019"/>
          </a:xfrm>
        </p:grpSpPr>
        <p:cxnSp>
          <p:nvCxnSpPr>
            <p:cNvPr id="7284" name="Gerade Verbindung 8"/>
            <p:cNvCxnSpPr>
              <a:cxnSpLocks noChangeShapeType="1"/>
              <a:stCxn id="7285" idx="0"/>
            </p:cNvCxnSpPr>
            <p:nvPr/>
          </p:nvCxnSpPr>
          <p:spPr bwMode="auto">
            <a:xfrm>
              <a:off x="1095021" y="1515362"/>
              <a:ext cx="14224" cy="4428238"/>
            </a:xfrm>
            <a:prstGeom prst="line">
              <a:avLst/>
            </a:prstGeom>
            <a:noFill/>
            <a:ln w="28575" algn="ctr">
              <a:solidFill>
                <a:srgbClr val="3366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285" name="Gleichschenkliges Dreieck 14"/>
            <p:cNvSpPr>
              <a:spLocks noChangeArrowheads="1"/>
            </p:cNvSpPr>
            <p:nvPr/>
          </p:nvSpPr>
          <p:spPr bwMode="auto">
            <a:xfrm rot="10800000">
              <a:off x="956999" y="1325581"/>
              <a:ext cx="276045" cy="189781"/>
            </a:xfrm>
            <a:prstGeom prst="triangle">
              <a:avLst>
                <a:gd name="adj" fmla="val 50000"/>
              </a:avLst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sp>
        <p:nvSpPr>
          <p:cNvPr id="6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LMB | AC-3 | P. Terreaux | Project Status | </a:t>
            </a:r>
            <a:r>
              <a:rPr lang="de-DE" dirty="0" smtClean="0"/>
              <a:t>2012-07-09</a:t>
            </a:r>
            <a:endParaRPr lang="de-DE" dirty="0"/>
          </a:p>
        </p:txBody>
      </p:sp>
      <p:sp>
        <p:nvSpPr>
          <p:cNvPr id="22" name="Abgerundetes Rechteck 21"/>
          <p:cNvSpPr/>
          <p:nvPr/>
        </p:nvSpPr>
        <p:spPr bwMode="auto">
          <a:xfrm>
            <a:off x="1535058" y="1725282"/>
            <a:ext cx="1570094" cy="715993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/>
              <a:t>Development Sculi </a:t>
            </a:r>
            <a:r>
              <a:rPr lang="en-US" sz="1000" dirty="0" smtClean="0"/>
              <a:t>2.0</a:t>
            </a:r>
            <a:endParaRPr lang="en-US" sz="1000" dirty="0"/>
          </a:p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/>
              <a:t>For basis LIDEC2 diagnostic</a:t>
            </a:r>
            <a:endParaRPr lang="en-US" sz="800" dirty="0"/>
          </a:p>
        </p:txBody>
      </p:sp>
      <p:grpSp>
        <p:nvGrpSpPr>
          <p:cNvPr id="7252" name="Gruppieren 2"/>
          <p:cNvGrpSpPr>
            <a:grpSpLocks/>
          </p:cNvGrpSpPr>
          <p:nvPr/>
        </p:nvGrpSpPr>
        <p:grpSpPr bwMode="auto">
          <a:xfrm>
            <a:off x="2677692" y="4468813"/>
            <a:ext cx="887412" cy="700087"/>
            <a:chOff x="9140697" y="3435070"/>
            <a:chExt cx="516499" cy="700458"/>
          </a:xfrm>
        </p:grpSpPr>
        <p:sp>
          <p:nvSpPr>
            <p:cNvPr id="7282" name="Raute 18"/>
            <p:cNvSpPr>
              <a:spLocks noChangeArrowheads="1"/>
            </p:cNvSpPr>
            <p:nvPr/>
          </p:nvSpPr>
          <p:spPr bwMode="auto">
            <a:xfrm>
              <a:off x="9324070" y="3889581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7283" name="Textfeld 1"/>
            <p:cNvSpPr txBox="1">
              <a:spLocks noChangeArrowheads="1"/>
            </p:cNvSpPr>
            <p:nvPr/>
          </p:nvSpPr>
          <p:spPr bwMode="auto">
            <a:xfrm>
              <a:off x="9140697" y="3435070"/>
              <a:ext cx="516499" cy="431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/>
                <a:t>Sculi</a:t>
              </a:r>
              <a:br>
                <a:rPr lang="en-US" sz="1100" dirty="0"/>
              </a:br>
              <a:r>
                <a:rPr lang="en-US" sz="1100" dirty="0" smtClean="0"/>
                <a:t>2.0</a:t>
              </a:r>
              <a:endParaRPr lang="en-US" sz="1100" dirty="0"/>
            </a:p>
          </p:txBody>
        </p:sp>
      </p:grpSp>
      <p:grpSp>
        <p:nvGrpSpPr>
          <p:cNvPr id="7253" name="Gruppieren 2"/>
          <p:cNvGrpSpPr>
            <a:grpSpLocks/>
          </p:cNvGrpSpPr>
          <p:nvPr/>
        </p:nvGrpSpPr>
        <p:grpSpPr bwMode="auto">
          <a:xfrm>
            <a:off x="4451350" y="4473575"/>
            <a:ext cx="887413" cy="700088"/>
            <a:chOff x="9140695" y="3406480"/>
            <a:chExt cx="516499" cy="700458"/>
          </a:xfrm>
        </p:grpSpPr>
        <p:sp>
          <p:nvSpPr>
            <p:cNvPr id="7280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7281" name="Textfeld 1"/>
            <p:cNvSpPr txBox="1">
              <a:spLocks noChangeArrowheads="1"/>
            </p:cNvSpPr>
            <p:nvPr/>
          </p:nvSpPr>
          <p:spPr bwMode="auto">
            <a:xfrm>
              <a:off x="9140695" y="3406480"/>
              <a:ext cx="516499" cy="431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/>
                <a:t>Sculi</a:t>
              </a:r>
              <a:br>
                <a:rPr lang="en-US" sz="1100" dirty="0"/>
              </a:br>
              <a:r>
                <a:rPr lang="en-US" sz="1100" dirty="0" smtClean="0"/>
                <a:t>2.4</a:t>
              </a:r>
              <a:endParaRPr lang="en-US" sz="1100" dirty="0"/>
            </a:p>
          </p:txBody>
        </p:sp>
      </p:grpSp>
      <p:grpSp>
        <p:nvGrpSpPr>
          <p:cNvPr id="7254" name="Gruppieren 2"/>
          <p:cNvGrpSpPr>
            <a:grpSpLocks/>
          </p:cNvGrpSpPr>
          <p:nvPr/>
        </p:nvGrpSpPr>
        <p:grpSpPr bwMode="auto">
          <a:xfrm>
            <a:off x="6700838" y="4460875"/>
            <a:ext cx="887412" cy="700088"/>
            <a:chOff x="9140695" y="3406480"/>
            <a:chExt cx="516499" cy="700458"/>
          </a:xfrm>
        </p:grpSpPr>
        <p:sp>
          <p:nvSpPr>
            <p:cNvPr id="7278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7279" name="Textfeld 1"/>
            <p:cNvSpPr txBox="1">
              <a:spLocks noChangeArrowheads="1"/>
            </p:cNvSpPr>
            <p:nvPr/>
          </p:nvSpPr>
          <p:spPr bwMode="auto">
            <a:xfrm>
              <a:off x="9140695" y="3406480"/>
              <a:ext cx="516499" cy="431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/>
                <a:t>Sculi</a:t>
              </a:r>
              <a:br>
                <a:rPr lang="en-US" sz="1100" dirty="0"/>
              </a:br>
              <a:r>
                <a:rPr lang="en-US" sz="1100" dirty="0" smtClean="0"/>
                <a:t>2.8</a:t>
              </a:r>
              <a:endParaRPr lang="en-US" sz="1100" dirty="0"/>
            </a:p>
          </p:txBody>
        </p:sp>
      </p:grpSp>
      <p:grpSp>
        <p:nvGrpSpPr>
          <p:cNvPr id="7255" name="Gruppieren 2"/>
          <p:cNvGrpSpPr>
            <a:grpSpLocks/>
          </p:cNvGrpSpPr>
          <p:nvPr/>
        </p:nvGrpSpPr>
        <p:grpSpPr bwMode="auto">
          <a:xfrm>
            <a:off x="8489950" y="4473575"/>
            <a:ext cx="887413" cy="700088"/>
            <a:chOff x="9140695" y="3406480"/>
            <a:chExt cx="516499" cy="700458"/>
          </a:xfrm>
        </p:grpSpPr>
        <p:sp>
          <p:nvSpPr>
            <p:cNvPr id="7276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7277" name="Textfeld 1"/>
            <p:cNvSpPr txBox="1">
              <a:spLocks noChangeArrowheads="1"/>
            </p:cNvSpPr>
            <p:nvPr/>
          </p:nvSpPr>
          <p:spPr bwMode="auto">
            <a:xfrm>
              <a:off x="9140695" y="3406480"/>
              <a:ext cx="516499" cy="431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/>
                <a:t>Sculi</a:t>
              </a:r>
              <a:br>
                <a:rPr lang="en-US" sz="1100" dirty="0"/>
              </a:br>
              <a:r>
                <a:rPr lang="en-US" sz="1100" dirty="0" smtClean="0"/>
                <a:t>2.12</a:t>
              </a:r>
              <a:endParaRPr lang="en-US" sz="1100" dirty="0"/>
            </a:p>
          </p:txBody>
        </p:sp>
      </p:grpSp>
      <p:sp>
        <p:nvSpPr>
          <p:cNvPr id="52" name="Abgerundetes Rechteck 51"/>
          <p:cNvSpPr/>
          <p:nvPr/>
        </p:nvSpPr>
        <p:spPr bwMode="auto">
          <a:xfrm>
            <a:off x="2636840" y="2575842"/>
            <a:ext cx="2259013" cy="444500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/>
              <a:t>Development Sculi </a:t>
            </a:r>
            <a:r>
              <a:rPr lang="en-US" sz="1000" dirty="0" smtClean="0"/>
              <a:t>2.4</a:t>
            </a:r>
            <a:endParaRPr lang="en-US" sz="1000" dirty="0"/>
          </a:p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/>
              <a:t>With full </a:t>
            </a:r>
            <a:r>
              <a:rPr lang="en-US" sz="1000" dirty="0" smtClean="0"/>
              <a:t>LIDEC </a:t>
            </a:r>
            <a:r>
              <a:rPr lang="en-US" sz="1000" dirty="0"/>
              <a:t>2 diagnostic</a:t>
            </a:r>
            <a:endParaRPr lang="en-US" sz="800" dirty="0"/>
          </a:p>
        </p:txBody>
      </p:sp>
      <p:sp>
        <p:nvSpPr>
          <p:cNvPr id="53" name="Abgerundetes Rechteck 52"/>
          <p:cNvSpPr/>
          <p:nvPr/>
        </p:nvSpPr>
        <p:spPr bwMode="auto">
          <a:xfrm>
            <a:off x="4756185" y="3240053"/>
            <a:ext cx="2411412" cy="455612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/>
              <a:t>Development Sculi </a:t>
            </a:r>
            <a:r>
              <a:rPr lang="en-US" sz="1000" dirty="0" smtClean="0"/>
              <a:t>2.8</a:t>
            </a:r>
          </a:p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 smtClean="0"/>
              <a:t>Replacing all Sculi 1</a:t>
            </a:r>
            <a:endParaRPr lang="en-US" sz="800" dirty="0"/>
          </a:p>
        </p:txBody>
      </p:sp>
      <p:grpSp>
        <p:nvGrpSpPr>
          <p:cNvPr id="7258" name="Gruppieren 2"/>
          <p:cNvGrpSpPr>
            <a:grpSpLocks/>
          </p:cNvGrpSpPr>
          <p:nvPr/>
        </p:nvGrpSpPr>
        <p:grpSpPr bwMode="auto">
          <a:xfrm>
            <a:off x="4427538" y="5340350"/>
            <a:ext cx="887412" cy="776288"/>
            <a:chOff x="9140697" y="3330240"/>
            <a:chExt cx="516499" cy="776698"/>
          </a:xfrm>
        </p:grpSpPr>
        <p:sp>
          <p:nvSpPr>
            <p:cNvPr id="7274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3333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7275" name="Textfeld 1"/>
            <p:cNvSpPr txBox="1">
              <a:spLocks noChangeArrowheads="1"/>
            </p:cNvSpPr>
            <p:nvPr/>
          </p:nvSpPr>
          <p:spPr bwMode="auto">
            <a:xfrm>
              <a:off x="9140697" y="3330240"/>
              <a:ext cx="516499" cy="600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/>
                <a:t>Stage 4 Engines SOP</a:t>
              </a:r>
            </a:p>
          </p:txBody>
        </p:sp>
      </p:grpSp>
      <p:grpSp>
        <p:nvGrpSpPr>
          <p:cNvPr id="7259" name="Gruppieren 2"/>
          <p:cNvGrpSpPr>
            <a:grpSpLocks/>
          </p:cNvGrpSpPr>
          <p:nvPr/>
        </p:nvGrpSpPr>
        <p:grpSpPr bwMode="auto">
          <a:xfrm>
            <a:off x="2728913" y="5300663"/>
            <a:ext cx="887412" cy="776287"/>
            <a:chOff x="9140697" y="3330240"/>
            <a:chExt cx="516499" cy="776698"/>
          </a:xfrm>
        </p:grpSpPr>
        <p:sp>
          <p:nvSpPr>
            <p:cNvPr id="7272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3333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7273" name="Textfeld 1"/>
            <p:cNvSpPr txBox="1">
              <a:spLocks noChangeArrowheads="1"/>
            </p:cNvSpPr>
            <p:nvPr/>
          </p:nvSpPr>
          <p:spPr bwMode="auto">
            <a:xfrm>
              <a:off x="9140697" y="3330240"/>
              <a:ext cx="516499" cy="600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/>
                <a:t>Stage 4 </a:t>
              </a:r>
              <a:br>
                <a:rPr lang="en-US" sz="1100"/>
              </a:br>
              <a:r>
                <a:rPr lang="en-US" sz="1100"/>
                <a:t>D-Sample Engines</a:t>
              </a:r>
            </a:p>
          </p:txBody>
        </p:sp>
      </p:grpSp>
      <p:sp>
        <p:nvSpPr>
          <p:cNvPr id="7260" name="Raute 18"/>
          <p:cNvSpPr>
            <a:spLocks noChangeArrowheads="1"/>
          </p:cNvSpPr>
          <p:nvPr/>
        </p:nvSpPr>
        <p:spPr bwMode="auto">
          <a:xfrm>
            <a:off x="1401763" y="5830888"/>
            <a:ext cx="257175" cy="246062"/>
          </a:xfrm>
          <a:prstGeom prst="diamond">
            <a:avLst/>
          </a:prstGeom>
          <a:solidFill>
            <a:srgbClr val="3333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</a:pPr>
            <a:endParaRPr lang="en-US"/>
          </a:p>
        </p:txBody>
      </p:sp>
      <p:sp>
        <p:nvSpPr>
          <p:cNvPr id="7261" name="Textfeld 1"/>
          <p:cNvSpPr txBox="1">
            <a:spLocks noChangeArrowheads="1"/>
          </p:cNvSpPr>
          <p:nvPr/>
        </p:nvSpPr>
        <p:spPr bwMode="auto">
          <a:xfrm>
            <a:off x="1087438" y="5300663"/>
            <a:ext cx="887412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en-US" sz="1100"/>
              <a:t>Stage 4 </a:t>
            </a:r>
            <a:br>
              <a:rPr lang="en-US" sz="1100"/>
            </a:br>
            <a:r>
              <a:rPr lang="en-US" sz="1100"/>
              <a:t>B-Sample Engines</a:t>
            </a:r>
          </a:p>
        </p:txBody>
      </p:sp>
      <p:sp>
        <p:nvSpPr>
          <p:cNvPr id="7262" name="Raute 12"/>
          <p:cNvSpPr>
            <a:spLocks noChangeArrowheads="1"/>
          </p:cNvSpPr>
          <p:nvPr/>
        </p:nvSpPr>
        <p:spPr bwMode="auto">
          <a:xfrm>
            <a:off x="3005138" y="1911350"/>
            <a:ext cx="201612" cy="246063"/>
          </a:xfrm>
          <a:prstGeom prst="diamond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</a:pPr>
            <a:endParaRPr lang="en-US"/>
          </a:p>
        </p:txBody>
      </p:sp>
      <p:sp>
        <p:nvSpPr>
          <p:cNvPr id="7263" name="Textfeld 28"/>
          <p:cNvSpPr txBox="1">
            <a:spLocks noChangeArrowheads="1"/>
          </p:cNvSpPr>
          <p:nvPr/>
        </p:nvSpPr>
        <p:spPr bwMode="auto">
          <a:xfrm>
            <a:off x="3222625" y="1928813"/>
            <a:ext cx="7683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en-US" sz="1100"/>
              <a:t>Q1/2013</a:t>
            </a:r>
          </a:p>
        </p:txBody>
      </p:sp>
      <p:sp>
        <p:nvSpPr>
          <p:cNvPr id="7264" name="Raute 12"/>
          <p:cNvSpPr>
            <a:spLocks noChangeArrowheads="1"/>
          </p:cNvSpPr>
          <p:nvPr/>
        </p:nvSpPr>
        <p:spPr bwMode="auto">
          <a:xfrm>
            <a:off x="4795840" y="2666540"/>
            <a:ext cx="200025" cy="246062"/>
          </a:xfrm>
          <a:prstGeom prst="diamond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</a:pPr>
            <a:endParaRPr lang="en-US"/>
          </a:p>
        </p:txBody>
      </p:sp>
      <p:sp>
        <p:nvSpPr>
          <p:cNvPr id="7265" name="Textfeld 28"/>
          <p:cNvSpPr txBox="1">
            <a:spLocks noChangeArrowheads="1"/>
          </p:cNvSpPr>
          <p:nvPr/>
        </p:nvSpPr>
        <p:spPr bwMode="auto">
          <a:xfrm>
            <a:off x="4987925" y="2701254"/>
            <a:ext cx="76835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en-US" sz="1100" dirty="0"/>
              <a:t>Q1/2014</a:t>
            </a:r>
          </a:p>
        </p:txBody>
      </p:sp>
      <p:sp>
        <p:nvSpPr>
          <p:cNvPr id="7266" name="Raute 12"/>
          <p:cNvSpPr>
            <a:spLocks noChangeArrowheads="1"/>
          </p:cNvSpPr>
          <p:nvPr/>
        </p:nvSpPr>
        <p:spPr bwMode="auto">
          <a:xfrm>
            <a:off x="7062823" y="3333290"/>
            <a:ext cx="201612" cy="246062"/>
          </a:xfrm>
          <a:prstGeom prst="diamond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</a:pPr>
            <a:endParaRPr lang="en-US"/>
          </a:p>
        </p:txBody>
      </p:sp>
      <p:sp>
        <p:nvSpPr>
          <p:cNvPr id="7267" name="Textfeld 28"/>
          <p:cNvSpPr txBox="1">
            <a:spLocks noChangeArrowheads="1"/>
          </p:cNvSpPr>
          <p:nvPr/>
        </p:nvSpPr>
        <p:spPr bwMode="auto">
          <a:xfrm>
            <a:off x="7232680" y="3339426"/>
            <a:ext cx="7683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en-US" sz="1100" dirty="0" smtClean="0"/>
              <a:t>Q1/2015</a:t>
            </a:r>
            <a:endParaRPr lang="en-US" sz="1100" dirty="0"/>
          </a:p>
        </p:txBody>
      </p:sp>
      <p:sp>
        <p:nvSpPr>
          <p:cNvPr id="76" name="Abgerundetes Rechteck 75"/>
          <p:cNvSpPr/>
          <p:nvPr/>
        </p:nvSpPr>
        <p:spPr bwMode="auto">
          <a:xfrm>
            <a:off x="6550026" y="3918073"/>
            <a:ext cx="2411413" cy="487362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/>
              <a:t>Development Sculi </a:t>
            </a:r>
            <a:r>
              <a:rPr lang="en-US" sz="1000" dirty="0" smtClean="0"/>
              <a:t>2.12</a:t>
            </a:r>
          </a:p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 smtClean="0"/>
              <a:t>With Master 5 diagnostic</a:t>
            </a:r>
            <a:endParaRPr lang="en-US" sz="1000" dirty="0"/>
          </a:p>
        </p:txBody>
      </p:sp>
      <p:sp>
        <p:nvSpPr>
          <p:cNvPr id="7269" name="Raute 12"/>
          <p:cNvSpPr>
            <a:spLocks noChangeArrowheads="1"/>
          </p:cNvSpPr>
          <p:nvPr/>
        </p:nvSpPr>
        <p:spPr bwMode="auto">
          <a:xfrm>
            <a:off x="8861425" y="4039517"/>
            <a:ext cx="201613" cy="244475"/>
          </a:xfrm>
          <a:prstGeom prst="diamond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</a:pPr>
            <a:endParaRPr lang="en-US"/>
          </a:p>
        </p:txBody>
      </p:sp>
      <p:sp>
        <p:nvSpPr>
          <p:cNvPr id="7270" name="Textfeld 28"/>
          <p:cNvSpPr txBox="1">
            <a:spLocks noChangeArrowheads="1"/>
          </p:cNvSpPr>
          <p:nvPr/>
        </p:nvSpPr>
        <p:spPr bwMode="auto">
          <a:xfrm>
            <a:off x="9078913" y="4055392"/>
            <a:ext cx="76835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en-US" sz="1100" dirty="0"/>
              <a:t>Q4/2015</a:t>
            </a:r>
          </a:p>
        </p:txBody>
      </p:sp>
      <p:sp>
        <p:nvSpPr>
          <p:cNvPr id="79" name="Abgerundetes Rechteck 78"/>
          <p:cNvSpPr/>
          <p:nvPr/>
        </p:nvSpPr>
        <p:spPr bwMode="auto">
          <a:xfrm>
            <a:off x="1530350" y="3182267"/>
            <a:ext cx="2528888" cy="444500"/>
          </a:xfrm>
          <a:prstGeom prst="roundRect">
            <a:avLst/>
          </a:prstGeom>
          <a:solidFill>
            <a:srgbClr val="FF0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i="1" dirty="0">
                <a:solidFill>
                  <a:srgbClr val="3333FF"/>
                </a:solidFill>
              </a:rPr>
              <a:t>Diagnostic of FPT Engine D824?</a:t>
            </a:r>
            <a:endParaRPr lang="en-US" sz="800" i="1" dirty="0">
              <a:solidFill>
                <a:srgbClr val="3333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012_0514_LMB_Project_Reporting_SCULI_6E0022">
  <a:themeElements>
    <a:clrScheme name="2900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CC00"/>
      </a:accent1>
      <a:accent2>
        <a:srgbClr val="FFFF99"/>
      </a:accent2>
      <a:accent3>
        <a:srgbClr val="FFFFFF"/>
      </a:accent3>
      <a:accent4>
        <a:srgbClr val="000000"/>
      </a:accent4>
      <a:accent5>
        <a:srgbClr val="FFE2AA"/>
      </a:accent5>
      <a:accent6>
        <a:srgbClr val="E7E78A"/>
      </a:accent6>
      <a:hlink>
        <a:srgbClr val="B2B2B2"/>
      </a:hlink>
      <a:folHlink>
        <a:srgbClr val="DDDDDD"/>
      </a:folHlink>
    </a:clrScheme>
    <a:fontScheme name="29007">
      <a:majorFont>
        <a:latin typeface="Arial Black"/>
        <a:ea typeface=""/>
        <a:cs typeface=""/>
      </a:majorFont>
      <a:minorFont>
        <a:latin typeface="Arial"/>
        <a:ea typeface="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808080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265113" marR="0" indent="-265113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40000"/>
          </a:spcAft>
          <a:buClr>
            <a:schemeClr val="accent1"/>
          </a:buClr>
          <a:buSzTx/>
          <a:buFont typeface="Wingdings" pitchFamily="2" charset="2"/>
          <a:buChar char="n"/>
          <a:tabLst/>
          <a:defRPr kumimoji="0" lang="de-DE" sz="2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808080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265113" marR="0" indent="-265113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40000"/>
          </a:spcAft>
          <a:buClr>
            <a:schemeClr val="accent1"/>
          </a:buClr>
          <a:buSzTx/>
          <a:buFont typeface="Wingdings" pitchFamily="2" charset="2"/>
          <a:buChar char="n"/>
          <a:tabLst/>
          <a:defRPr kumimoji="0" lang="de-DE" sz="2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2900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00"/>
        </a:accent1>
        <a:accent2>
          <a:srgbClr val="FFFF99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E78A"/>
        </a:accent6>
        <a:hlink>
          <a:srgbClr val="B2B2B2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Project Workspace Document" ma:contentTypeID="0x0101008A98423170284BEEB635F43C3CF4E98B0044CF0AF265E26340B169DEAE6585C975" ma:contentTypeVersion="0" ma:contentTypeDescription="" ma:contentTypeScope="" ma:versionID="3dea9bd026a46cf2f4c122b9a618b44e">
  <xsd:schema xmlns:xsd="http://www.w3.org/2001/XMLSchema" xmlns:xs="http://www.w3.org/2001/XMLSchema" xmlns:p="http://schemas.microsoft.com/office/2006/metadata/properties" xmlns:ns2="470E9840-72F2-422E-BB95-6C1608C33BD2" targetNamespace="http://schemas.microsoft.com/office/2006/metadata/properties" ma:root="true" ma:fieldsID="a42d73cdbeb41f51eeddee05efc8bd2d" ns2:_="">
    <xsd:import namespace="470E9840-72F2-422E-BB95-6C1608C33BD2"/>
    <xsd:element name="properties">
      <xsd:complexType>
        <xsd:sequence>
          <xsd:element name="documentManagement">
            <xsd:complexType>
              <xsd:all>
                <xsd:element ref="ns2:Owner" minOccurs="0"/>
                <xsd:element ref="ns2:Status" minOccurs="0"/>
                <xsd:element ref="ns2:Link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E9840-72F2-422E-BB95-6C1608C33BD2" elementFormDefault="qualified">
    <xsd:import namespace="http://schemas.microsoft.com/office/2006/documentManagement/types"/>
    <xsd:import namespace="http://schemas.microsoft.com/office/infopath/2007/PartnerControls"/>
    <xsd:element name="Owner" ma:index="8" nillable="true" ma:displayName="Owner" ma:list="UserInfo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9" nillable="true" ma:displayName="Status" ma:default="Draft" ma:internalName="Status">
      <xsd:simpleType>
        <xsd:restriction base="dms:Choice">
          <xsd:enumeration value="Draft"/>
          <xsd:enumeration value="Ready For Review"/>
          <xsd:enumeration value="Final"/>
        </xsd:restriction>
      </xsd:simpleType>
    </xsd:element>
    <xsd:element name="Links" ma:index="10" nillable="true" ma:displayName="Links" ma:internalName="Link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LongProperties xmlns="http://schemas.microsoft.com/office/2006/metadata/longProperties">
  <LongProp xmlns="" name="WorkflowCreationPath"><![CDATA[15aa1d1a-f165-4ab7-a5d7-adc31d353b90,5;15aa1d1a-f165-4ab7-a5d7-adc31d353b90,5;15aa1d1a-f165-4ab7-a5d7-adc31d353b90,5;15aa1d1a-f165-4ab7-a5d7-adc31d353b90,5;15aa1d1a-f165-4ab7-a5d7-adc31d353b90,6;15aa1d1a-f165-4ab7-a5d7-adc31d353b90,6;15aa1d1a-f165-4ab7-a515aa1d1a-f165-4ab7-a5d7-adc31d353b90,3;15aa1d1a-f165-4ab7-a5d7-adc31d353b90,3;15aa1d1a-f165-4ab7-a5d7-adc31d353b90,3;15aa1d1a-f165-4ab7-a5d7-adc31d353b90,4;15aa1d1a-f165-4ab7-a5d7-adc31d353b90,4;15aa1d1a-f165-4ab7-a5d7-adc31d353b90,5;15aa1d1a-f165-4ab7-a5d7-adc31d353b90,5;15aa1d1a-f165-4ab7-a5d7-adc31d353b90,6;15aa1d1a-f165-4ab7-a5d7-adc31d353b90,6;15aa1d1a-f165-4ab7-a5d7-adc31d353b90,6;15aa1d1a-f165-4ab7-a5d7-adc31d353b90,9;15aa1d1a-f165-4ab7-a5d7-adc31d353b90,9;15aa1d1a-f165-4ab7-a5d7-adc31d353b90,9;15aa1d1a-f165-4ab7-a5d7-adc31d353b90,10;15aa1d1a-f165-4ab7-a5d7-adc31d353b90,10;15aa1d1a-f165-4ab7-a5d7-adc31d353b90,11;15aa1d1a-f165-4ab7-a5d7-adc31d353b90,11;15aa1d1a-f165-4ab7-a5d7-adc31d353b90,12;15aa1d1a-f165-4ab7-a5d7-adc31d353b90,12;15aa1d1a-f165-4ab7-a5d7-adc31d353b90,12;15aa1d1a-f165-4ab7-a5d7-adc31d353b90,15;15aa1d1a-f165-4ab7-a5d7-adc31d353b90,15;15aa1d1a-f165-4ab7-a5d7-adc31d353b90,15;15aa1d1a-f165-4ab7-a5d7-adc31d353b90,16;15aa1d1a-f165-4ab7-a5d7-adc31d353b90,16;15aa1d1a-f165-4ab7-a5d7-adc31d353b90,17;15aa1d1a-f165-4ab7-a5d7-adc31d353b90,17;15aa1d1a-f165-4ab7-a5d7-adc31d353b90,18;15aa1d1a-f165-4ab7-a5d7-adc31d353b90,18;15aa1d1a-f165-4ab7-a5d7-adc31d353b90,18;15aa1d1a-f165-4ab7-a5d7-adc31d353b90,24;15aa1d1a-f165-4ab7-a5d7-adc31d353b90,24;15aa1d1a-f165-4ab7-a5d7-adc31d353b90,24;15aa1d1a-f165-4ab7-a5d7-adc31d353b90,25;15aa1d1a-f165-4ab7-a5d7-adc31d353b90,25;15aa1d1a-f165-4ab7-a5d7-adc31d353b90,26;15aa1d1a-f165-4ab7-a5d7-adc31d353b90,26;15aa1d1a-f165-4ab7-a5d7-adc31d353b90,27;15aa1d1a-f165-4ab7-a5d7-adc31d353b90,27;15aa1d1a-f165-4ab7-a5d7-adc31d353b90,27;]]></LongProp>
</LongProperti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nks xmlns="470E9840-72F2-422E-BB95-6C1608C33BD2" xsi:nil="true"/>
    <Owner xmlns="470E9840-72F2-422E-BB95-6C1608C33BD2">
      <UserInfo>
        <DisplayName/>
        <AccountId xsi:nil="true"/>
        <AccountType/>
      </UserInfo>
    </Owner>
    <Status xmlns="470E9840-72F2-422E-BB95-6C1608C33BD2">Draft</Status>
  </documentManagement>
</p:properties>
</file>

<file path=customXml/itemProps1.xml><?xml version="1.0" encoding="utf-8"?>
<ds:datastoreItem xmlns:ds="http://schemas.openxmlformats.org/officeDocument/2006/customXml" ds:itemID="{1CAF7CFD-0D04-4CF5-9325-4F23C6BA07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4BDD0D-CDDA-4E8E-8183-27DCC369E0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0E9840-72F2-422E-BB95-6C1608C33B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E5877A-049B-4DB4-81C8-C4EB6EE1F833}">
  <ds:schemaRefs>
    <ds:schemaRef ds:uri="http://schemas.microsoft.com/office/2006/metadata/longProperties"/>
    <ds:schemaRef ds:uri=""/>
  </ds:schemaRefs>
</ds:datastoreItem>
</file>

<file path=customXml/itemProps4.xml><?xml version="1.0" encoding="utf-8"?>
<ds:datastoreItem xmlns:ds="http://schemas.openxmlformats.org/officeDocument/2006/customXml" ds:itemID="{7D5B8C0B-13B7-49F3-A816-9AEF1ACB0D58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470E9840-72F2-422E-BB95-6C1608C33BD2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2012_0514_LMB_Project_Reporting_SCULI_6E0022</Template>
  <TotalTime>0</TotalTime>
  <Words>488</Words>
  <Application>Microsoft Office PowerPoint</Application>
  <PresentationFormat>A4 Paper (210x297 mm)</PresentationFormat>
  <Paragraphs>204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2012_0514_LMB_Project_Reporting_SCULI_6E0022</vt:lpstr>
      <vt:lpstr>Project Status – 6E0022 Sculi</vt:lpstr>
      <vt:lpstr>Project Status – 6E0022 Sculi</vt:lpstr>
      <vt:lpstr>Project Status – 6E0022 Sculi</vt:lpstr>
      <vt:lpstr>Project Status – 6E0022 Sculi</vt:lpstr>
      <vt:lpstr>Project Status – 6E0022 Sculi</vt:lpstr>
    </vt:vector>
  </TitlesOfParts>
  <Company>Liebherr Machines Bulle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Status – 6E0022 Sculi</dc:title>
  <dc:creator>Terreaux Patrick (LMB)</dc:creator>
  <cp:lastModifiedBy>Terreaux Patrick (LMB)</cp:lastModifiedBy>
  <cp:revision>93</cp:revision>
  <cp:lastPrinted>2012-07-16T08:02:42Z</cp:lastPrinted>
  <dcterms:created xsi:type="dcterms:W3CDTF">2012-05-15T06:19:22Z</dcterms:created>
  <dcterms:modified xsi:type="dcterms:W3CDTF">2012-07-16T08:04:55Z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ISO Document</vt:lpwstr>
  </property>
  <property fmtid="{D5CDD505-2E9C-101B-9397-08002B2CF9AE}" pid="3" name="display_urn:schemas-microsoft-com:office:office#Approver">
    <vt:lpwstr>AQ6 Owners</vt:lpwstr>
  </property>
  <property fmtid="{D5CDD505-2E9C-101B-9397-08002B2CF9AE}" pid="4" name="display_urn:schemas-microsoft-com:office:office#liberator">
    <vt:lpwstr>AQ6 Owners</vt:lpwstr>
  </property>
  <property fmtid="{D5CDD505-2E9C-101B-9397-08002B2CF9AE}" pid="5" name="WorkflowCreationPath">
    <vt:lpwstr>15aa1d1a-f165-4ab7-a5d7-adc31d353b90,5;15aa1d1a-f165-4ab7-a5d7-adc31d353b90,5;15aa1d1a-f165-4ab7-a5d7-adc31d353b90,5;15aa1d1a-f165-4ab7-a5d7-adc31d353b90,5;15aa1d1a-f165-4ab7-a5d7-adc31d353b90,6;15aa1d1a-f165-4ab7-a5d7-adc31d353b90,6;15aa1d1a-f165-4ab7-a5</vt:lpwstr>
  </property>
  <property fmtid="{D5CDD505-2E9C-101B-9397-08002B2CF9AE}" pid="6" name="display_urn:schemas-microsoft-com:office:office#Editor1">
    <vt:lpwstr>Hahn Thorsten (LMB)</vt:lpwstr>
  </property>
  <property fmtid="{D5CDD505-2E9C-101B-9397-08002B2CF9AE}" pid="7" name="LMB_Teams">
    <vt:lpwstr>LMB-Allgemein</vt:lpwstr>
  </property>
  <property fmtid="{D5CDD505-2E9C-101B-9397-08002B2CF9AE}" pid="8" name="Approver">
    <vt:lpwstr>4</vt:lpwstr>
  </property>
  <property fmtid="{D5CDD505-2E9C-101B-9397-08002B2CF9AE}" pid="9" name="Liberator date">
    <vt:lpwstr>2011-09-07T22:00:00+00:00</vt:lpwstr>
  </property>
  <property fmtid="{D5CDD505-2E9C-101B-9397-08002B2CF9AE}" pid="10" name="LMB_Doc_Class">
    <vt:lpwstr>0029-Formular</vt:lpwstr>
  </property>
  <property fmtid="{D5CDD505-2E9C-101B-9397-08002B2CF9AE}" pid="11" name="liberator">
    <vt:lpwstr>4</vt:lpwstr>
  </property>
  <property fmtid="{D5CDD505-2E9C-101B-9397-08002B2CF9AE}" pid="12" name="Editor1">
    <vt:lpwstr>22</vt:lpwstr>
  </property>
  <property fmtid="{D5CDD505-2E9C-101B-9397-08002B2CF9AE}" pid="13" name="Approver date">
    <vt:lpwstr>2011-09-07T22:00:00+00:00</vt:lpwstr>
  </property>
  <property fmtid="{D5CDD505-2E9C-101B-9397-08002B2CF9AE}" pid="14" name="Editor date">
    <vt:lpwstr>2011-09-07T22:00:00+00:00</vt:lpwstr>
  </property>
  <property fmtid="{D5CDD505-2E9C-101B-9397-08002B2CF9AE}" pid="15" name="Theme">
    <vt:lpwstr>Kommunikation - Communication</vt:lpwstr>
  </property>
  <property fmtid="{D5CDD505-2E9C-101B-9397-08002B2CF9AE}" pid="16" name="Modification reason">
    <vt:lpwstr>Aenderung Metadaten</vt:lpwstr>
  </property>
  <property fmtid="{D5CDD505-2E9C-101B-9397-08002B2CF9AE}" pid="17" name="ISO Code">
    <vt:lpwstr>LMB_0029_00057</vt:lpwstr>
  </property>
  <property fmtid="{D5CDD505-2E9C-101B-9397-08002B2CF9AE}" pid="18" name="LMB Version">
    <vt:lpwstr>0</vt:lpwstr>
  </property>
  <property fmtid="{D5CDD505-2E9C-101B-9397-08002B2CF9AE}" pid="19" name="ContentTypeId">
    <vt:lpwstr>0x0101008A98423170284BEEB635F43C3CF4E98B0044CF0AF265E26340B169DEAE6585C975</vt:lpwstr>
  </property>
  <property fmtid="{D5CDD505-2E9C-101B-9397-08002B2CF9AE}" pid="20" name="Links">
    <vt:lpwstr/>
  </property>
  <property fmtid="{D5CDD505-2E9C-101B-9397-08002B2CF9AE}" pid="21" name="Owner">
    <vt:lpwstr/>
  </property>
  <property fmtid="{D5CDD505-2E9C-101B-9397-08002B2CF9AE}" pid="22" name="Status">
    <vt:lpwstr>Draft</vt:lpwstr>
  </property>
</Properties>
</file>